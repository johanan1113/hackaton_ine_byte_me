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58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INSTITUTO NACIONAL</a:t>
            </a:r>
            <a:br/>
            <a:r>
              <a:t>ELECTORAL</a:t>
            </a:r>
          </a:p>
          <a:p>
            <a:pPr>
              <a:defRPr sz="1300">
                <a:solidFill>
                  <a:srgbClr val="EBD4F5"/>
                </a:solidFill>
                <a:latin typeface="Arial"/>
              </a:defRPr>
            </a:pPr>
            <a:r>
              <a:t>Concurso Oficial:</a:t>
            </a:r>
            <a:br/>
            <a:r>
              <a:t>"Hackea la Participación:</a:t>
            </a:r>
            <a:br/>
            <a:r>
              <a:t>Datos que construyen democracia"</a:t>
            </a:r>
            <a:br/>
            <a:br/>
            <a:r>
              <a:t>CCPC 2009–2024</a:t>
            </a:r>
            <a:br/>
            <a:r>
              <a:t>ENCÍVICA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9144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D1367E"/>
                </a:solidFill>
                <a:latin typeface="Arial"/>
              </a:defRPr>
            </a:pPr>
            <a:r>
              <a:t>RETO 1: PERFILES CIUDADANOS DE PARTICIPACIÓN</a:t>
            </a:r>
          </a:p>
          <a:p>
            <a:pPr>
              <a:spcAft>
                <a:spcPts val="2500"/>
              </a:spcAft>
              <a:defRPr sz="2600" b="1">
                <a:solidFill>
                  <a:srgbClr val="582D73"/>
                </a:solidFill>
                <a:latin typeface="Arial"/>
              </a:defRPr>
            </a:pPr>
            <a:r>
              <a:t>Segmentación No Supervisada, Dinámica Longitudinal (2009–2024) y Estrategias Cívicas Focalizadas</a:t>
            </a:r>
          </a:p>
          <a:p>
            <a:pPr>
              <a:defRPr sz="1500" b="1">
                <a:solidFill>
                  <a:srgbClr val="1E1E24"/>
                </a:solidFill>
                <a:latin typeface="Arial"/>
              </a:defRPr>
            </a:pPr>
            <a:r>
              <a:t>EQUIPO: BYTE ME</a:t>
            </a:r>
            <a:br/>
          </a:p>
          <a:p>
            <a:pPr>
              <a:spcBef>
                <a:spcPts val="800"/>
              </a:spcBef>
              <a:defRPr sz="1150">
                <a:solidFill>
                  <a:srgbClr val="5A6275"/>
                </a:solidFill>
                <a:latin typeface="Arial"/>
              </a:defRPr>
            </a:pPr>
            <a:r>
              <a:t>• Johanan Olivares Gutierrez (Representante  |  Científico de Datos Principal / MLOps)</a:t>
            </a:r>
            <a:br/>
            <a:r>
              <a:t>• Oscar Ariel Cuevas Martinez (Especialista en Modelación Social Computacional)</a:t>
            </a:r>
            <a:br/>
            <a:r>
              <a:t>• Saul Alexis Arias Gonzales (Diseñador de Información para Políticas Públicas)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8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1367E"/>
                </a:solidFill>
                <a:latin typeface="Arial"/>
              </a:defRPr>
            </a:pPr>
            <a:r>
              <a:t>RETO 1: PERFILES CIUDADANOS DE PARTICIPACIÓN   |   EQUIPO: BYTE ME   |   INE / ENCÍVICA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82D73"/>
                </a:solidFill>
                <a:latin typeface="Arial"/>
              </a:defRPr>
            </a:pPr>
            <a:r>
              <a:t>El Reto Democrático en Datos: 15 Años de Elecciones Federales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582D73"/>
                </a:solidFill>
                <a:latin typeface="Arial"/>
              </a:defRPr>
            </a:pPr>
            <a:r>
              <a:t>62,048</a:t>
            </a:r>
          </a:p>
          <a:p>
            <a:pPr>
              <a:spcAft>
                <a:spcPts val="1200"/>
              </a:spcAft>
              <a:defRPr sz="1300" b="1">
                <a:solidFill>
                  <a:srgbClr val="1E1E24"/>
                </a:solidFill>
                <a:latin typeface="Arial"/>
              </a:defRPr>
            </a:pPr>
            <a:r>
              <a:t>Secciones Electorales</a:t>
            </a:r>
          </a:p>
          <a:p>
            <a:pPr>
              <a:defRPr sz="1050">
                <a:solidFill>
                  <a:srgbClr val="5A6275"/>
                </a:solidFill>
                <a:latin typeface="Arial"/>
              </a:defRPr>
            </a:pPr>
            <a:r>
              <a:t>Panel balanceado longitudinal con 100% de presencia en 6 elecciones federales (2009-2024).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37160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55448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00A896"/>
                </a:solidFill>
                <a:latin typeface="Arial"/>
              </a:defRPr>
            </a:pPr>
            <a:r>
              <a:t>53.6%</a:t>
            </a:r>
          </a:p>
          <a:p>
            <a:pPr>
              <a:spcAft>
                <a:spcPts val="1200"/>
              </a:spcAft>
              <a:defRPr sz="1300" b="1">
                <a:solidFill>
                  <a:srgbClr val="1E1E24"/>
                </a:solidFill>
                <a:latin typeface="Arial"/>
              </a:defRPr>
            </a:pPr>
            <a:r>
              <a:t>Participación Media</a:t>
            </a:r>
          </a:p>
          <a:p>
            <a:pPr>
              <a:defRPr sz="1050">
                <a:solidFill>
                  <a:srgbClr val="5A6275"/>
                </a:solidFill>
                <a:latin typeface="Arial"/>
              </a:defRPr>
            </a:pPr>
            <a:r>
              <a:t>Promedio nacional histórico con oscilaciones entre el 43.8% (2009) y el 62.5% (2012).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E67E22"/>
                </a:solidFill>
                <a:latin typeface="Arial"/>
              </a:defRPr>
            </a:pPr>
            <a:r>
              <a:t>+12.3%</a:t>
            </a:r>
          </a:p>
          <a:p>
            <a:pPr>
              <a:spcAft>
                <a:spcPts val="1200"/>
              </a:spcAft>
              <a:defRPr sz="1300" b="1">
                <a:solidFill>
                  <a:srgbClr val="1E1E24"/>
                </a:solidFill>
                <a:latin typeface="Arial"/>
              </a:defRPr>
            </a:pPr>
            <a:r>
              <a:t>Brecha Presidencial</a:t>
            </a:r>
          </a:p>
          <a:p>
            <a:pPr>
              <a:defRPr sz="1050">
                <a:solidFill>
                  <a:srgbClr val="5A6275"/>
                </a:solidFill>
                <a:latin typeface="Arial"/>
              </a:defRPr>
            </a:pPr>
            <a:r>
              <a:t>Desplome sistemático en elecciones intermedias que en ciertos perfiles alcanza hasta 24.1%.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37160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155448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D1367E"/>
                </a:solidFill>
                <a:latin typeface="Arial"/>
              </a:defRPr>
            </a:pPr>
            <a:r>
              <a:t>+7.4%</a:t>
            </a:r>
          </a:p>
          <a:p>
            <a:pPr>
              <a:spcAft>
                <a:spcPts val="1200"/>
              </a:spcAft>
              <a:defRPr sz="1300" b="1">
                <a:solidFill>
                  <a:srgbClr val="1E1E24"/>
                </a:solidFill>
                <a:latin typeface="Arial"/>
              </a:defRPr>
            </a:pPr>
            <a:r>
              <a:t>Brecha Pro-Mujeres</a:t>
            </a:r>
          </a:p>
          <a:p>
            <a:pPr>
              <a:defRPr sz="1050">
                <a:solidFill>
                  <a:srgbClr val="5A6275"/>
                </a:solidFill>
                <a:latin typeface="Arial"/>
              </a:defRPr>
            </a:pPr>
            <a:r>
              <a:t>Las mujeres superan sistemáticamente a los hombres en asistencia a urnas en todo el país.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A6275"/>
                </a:solidFill>
              </a:defRPr>
            </a:pPr>
            <a:r>
              <a:t>Fuente: Conteos Censales de Participación Ciudadana (CCPC 2009–2024), procesados con DuckDB in-memory por el equipo Byte 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8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1367E"/>
                </a:solidFill>
                <a:latin typeface="Arial"/>
              </a:defRPr>
            </a:pPr>
            <a:r>
              <a:t>RETO 1: PERFILES CIUDADANOS DE PARTICIPACIÓN   |   EQUIPO: BYTE ME   |   INE / ENCÍVICA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82D73"/>
                </a:solidFill>
                <a:latin typeface="Arial"/>
              </a:defRPr>
            </a:pPr>
            <a:r>
              <a:t>Metodología: Pipeline Resiliente ante Redistritaciones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582D73"/>
                </a:solidFill>
                <a:latin typeface="Arial"/>
              </a:defRPr>
            </a:pPr>
            <a:r>
              <a:t>1. Ingesta Vectorizada   |   DuckDB In-Memory</a:t>
            </a:r>
          </a:p>
          <a:p>
            <a:pPr>
              <a:defRPr sz="1050">
                <a:solidFill>
                  <a:srgbClr val="1E1E24"/>
                </a:solidFill>
                <a:latin typeface="Arial"/>
              </a:defRPr>
            </a:pPr>
            <a:r>
              <a:t>Lectura directa sobre archivos ZIP de 6 elecciones federales sin colapsar memoria RAM (procesamiento en &lt;40s).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10698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70048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582D73"/>
                </a:solidFill>
                <a:latin typeface="Arial"/>
              </a:defRPr>
            </a:pPr>
            <a:r>
              <a:t>2. Armonización Cartográfica   |   62,048 Secciones Clave</a:t>
            </a:r>
          </a:p>
          <a:p>
            <a:pPr>
              <a:defRPr sz="1050">
                <a:solidFill>
                  <a:srgbClr val="1E1E24"/>
                </a:solidFill>
                <a:latin typeface="Arial"/>
              </a:defRPr>
            </a:pPr>
            <a:r>
              <a:t>Control de las redistritaciones 2017 y 2022: se aisló el conjunto seccional continuo (85.4% del país, 99.1% de municipios).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49039"/>
            <a:ext cx="10698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58767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582D73"/>
                </a:solidFill>
                <a:latin typeface="Arial"/>
              </a:defRPr>
            </a:pPr>
            <a:r>
              <a:t>3. Ingeniería de Tasas   |   Control VIF &lt; 3.5</a:t>
            </a:r>
          </a:p>
          <a:p>
            <a:pPr>
              <a:defRPr sz="1050">
                <a:solidFill>
                  <a:srgbClr val="1E1E24"/>
                </a:solidFill>
                <a:latin typeface="Arial"/>
              </a:defRPr>
            </a:pPr>
            <a:r>
              <a:t>Sustitución de tasas colineales por la Brecha Generacional y el Ratio Joven. Eliminación total de multicolinealidad.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37760"/>
            <a:ext cx="10698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047488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582D73"/>
                </a:solidFill>
                <a:latin typeface="Arial"/>
              </a:defRPr>
            </a:pPr>
            <a:r>
              <a:t>4. Escalado Robusto   |   RobustScaler (Mediana/IQR)</a:t>
            </a:r>
          </a:p>
          <a:p>
            <a:pPr>
              <a:defRPr sz="1050">
                <a:solidFill>
                  <a:srgbClr val="1E1E24"/>
                </a:solidFill>
                <a:latin typeface="Arial"/>
              </a:defRPr>
            </a:pPr>
            <a:r>
              <a:t>Normalización resistente a casillas atípicas y preservación de distancias relativas para clustering.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8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1367E"/>
                </a:solidFill>
                <a:latin typeface="Arial"/>
              </a:defRPr>
            </a:pPr>
            <a:r>
              <a:t>RETO 1: PERFILES CIUDADANOS DE PARTICIPACIÓN   |   EQUIPO: BYTE ME   |   INE / ENCÍVICA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82D73"/>
                </a:solidFill>
                <a:latin typeface="Arial"/>
              </a:defRPr>
            </a:pPr>
            <a:r>
              <a:t>Validación Matemática: K-Means++ vs. GMM vs. HDBSCAN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3035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582D73"/>
                </a:solidFill>
              </a:defRPr>
            </a:pPr>
            <a:r>
              <a:t>Resultados del Benchmark Cuantitativo:</a:t>
            </a:r>
          </a:p>
          <a:p>
            <a:pPr>
              <a:defRPr sz="1050">
                <a:solidFill>
                  <a:srgbClr val="1E1E24"/>
                </a:solidFill>
              </a:defRPr>
            </a:pPr>
            <a:r>
              <a:t>• K-Means++ (k=5) [CAMPEÓN ★]:</a:t>
            </a:r>
            <a:br/>
            <a:r>
              <a:t>   - Silhouette: 0.1805  |  Davies-Bouldin: 1.4233 (Mínimo óptimo)</a:t>
            </a:r>
            <a:br/>
            <a:r>
              <a:t>   - Estabilidad Bootstrap: ARI = 0.8411 (10 semillas al 80%)</a:t>
            </a:r>
            <a:br/>
            <a:r>
              <a:t>   - Asignación: 100% clasificado (cero ruido residual).</a:t>
            </a:r>
            <a:br/>
            <a:br/>
            <a:r>
              <a:t>• K-Means++ (k=3 a 7):</a:t>
            </a:r>
            <a:br/>
            <a:r>
              <a:t>   - Codo claro de inercia en k=5; desaceleración en k&gt;5.</a:t>
            </a:r>
            <a:br/>
            <a:br/>
            <a:r>
              <a:t>• Gaussian Mixture Models (GMM):</a:t>
            </a:r>
            <a:br/>
            <a:r>
              <a:t>   - Sobreajuste en k&gt;=4 (Silhouette negativo, DB &gt; 3.10).</a:t>
            </a:r>
            <a:br/>
            <a:br/>
            <a:r>
              <a:t>• HDBSCAN:</a:t>
            </a:r>
            <a:br/>
            <a:r>
              <a:t>   - Identificó que el electorado forma un continuum denso,</a:t>
            </a:r>
            <a:br/>
            <a:r>
              <a:t>     justificando la partición por centroides de Voronoi.</a:t>
            </a:r>
          </a:p>
        </p:txBody>
      </p:sp>
      <p:pic>
        <p:nvPicPr>
          <p:cNvPr id="7" name="Picture 6" descr="01_clustering_benchmark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21208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8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1367E"/>
                </a:solidFill>
                <a:latin typeface="Arial"/>
              </a:defRPr>
            </a:pPr>
            <a:r>
              <a:t>RETO 1: PERFILES CIUDADANOS DE PARTICIPACIÓN   |   EQUIPO: BYTE ME   |   INE / ENCÍVICA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82D73"/>
                </a:solidFill>
                <a:latin typeface="Arial"/>
              </a:defRPr>
            </a:pPr>
            <a:r>
              <a:t>Mapa General de Arquetipos Electorales (Topología UMAP)</a:t>
            </a:r>
          </a:p>
        </p:txBody>
      </p:sp>
      <p:pic>
        <p:nvPicPr>
          <p:cNvPr id="5" name="Picture 4" descr="02_umap_clusters_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217920" cy="48463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1371600"/>
            <a:ext cx="42976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55448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582D73"/>
                </a:solidFill>
              </a:defRPr>
            </a:pPr>
            <a:r>
              <a:t>Estructura del Manifold Electoral:</a:t>
            </a:r>
          </a:p>
          <a:p>
            <a:pPr>
              <a:defRPr sz="1050">
                <a:solidFill>
                  <a:srgbClr val="1E1E24"/>
                </a:solidFill>
              </a:defRPr>
            </a:pPr>
            <a:r>
              <a:t>• Varianza Explicada PCA: 60.12% en 2 componentes (PC1 = 37.9%, PC2 = 22.2%).</a:t>
            </a:r>
            <a:br/>
            <a:br/>
            <a:r>
              <a:t>• Eje Horizontal: Intensidad y lealtad histórica del voto (de abstención a alta concurrencia).</a:t>
            </a:r>
            <a:br/>
            <a:br/>
            <a:r>
              <a:t>• Eje Vertical: Volatilidad presidencial vs. sesgo demográfico de género/edad.</a:t>
            </a:r>
            <a:br/>
            <a:br/>
            <a:r>
              <a:t>• Separabilidad Confirmada: Clasificador Random Forest reconstruye las etiquetas con 94.08% de exactitud y ANOVA F-test con p &lt; 10⁻¹⁵.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8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1367E"/>
                </a:solidFill>
                <a:latin typeface="Arial"/>
              </a:defRPr>
            </a:pPr>
            <a:r>
              <a:t>RETO 1: PERFILES CIUDADANOS DE PARTICIPACIÓN   |   EQUIPO: BYTE ME   |   INE / ENCÍVICA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82D73"/>
                </a:solidFill>
                <a:latin typeface="Arial"/>
              </a:defRPr>
            </a:pPr>
            <a:r>
              <a:t>Perfiles Prioritarios: Abstencionismo Urbano y Juventud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67E22"/>
                </a:solidFill>
              </a:defRPr>
            </a:pPr>
            <a:r>
              <a:t>C2: Abstencionismo Estructural Urbano</a:t>
            </a:r>
          </a:p>
          <a:p>
            <a:pPr>
              <a:spcAft>
                <a:spcPts val="1000"/>
              </a:spcAft>
              <a:defRPr sz="1050" b="1">
                <a:solidFill>
                  <a:srgbClr val="1E1E24"/>
                </a:solidFill>
              </a:defRPr>
            </a:pPr>
            <a:r>
              <a:t>35.9% de secciones  |  32.93 M electores (38.3% del Padrón Nacional)</a:t>
            </a:r>
          </a:p>
          <a:p>
            <a:pPr>
              <a:defRPr sz="1000">
                <a:solidFill>
                  <a:srgbClr val="1E1E24"/>
                </a:solidFill>
              </a:defRPr>
            </a:pPr>
            <a:r>
              <a:t>• Comportamiento: Participación media de 50.4%, la más baja del país. 93% secciones urbanas en CDMX, Puebla y Veracruz.</a:t>
            </a:r>
            <a:br/>
            <a:br/>
            <a:r>
              <a:t>• Factor Causal: Jornadas laborales dominicales, lejanía por reseccionamiento urbano y cinismo ante la política partidista.</a:t>
            </a:r>
            <a:br/>
            <a:br/>
            <a:r>
              <a:t>• Lema Cívico: "Tu ciudad es tu decisión: el costo del silencio se paga en servicios y transporte".</a:t>
            </a:r>
            <a:br/>
            <a:br/>
            <a:r>
              <a:t>• Acción INE: Casillas extraordinarias en nodos de transporte y convenios patronales de permisos dominicales.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A896"/>
                </a:solidFill>
              </a:defRPr>
            </a:pPr>
            <a:r>
              <a:t>C4: Juventud Movilizada en Expansión</a:t>
            </a:r>
          </a:p>
          <a:p>
            <a:pPr>
              <a:spcAft>
                <a:spcPts val="1000"/>
              </a:spcAft>
              <a:defRPr sz="1050" b="1">
                <a:solidFill>
                  <a:srgbClr val="1E1E24"/>
                </a:solidFill>
              </a:defRPr>
            </a:pPr>
            <a:r>
              <a:t>13.6% de secciones  |  11.10 M electores (12.9% del Padrón Nacional)</a:t>
            </a:r>
          </a:p>
          <a:p>
            <a:pPr>
              <a:defRPr sz="1000">
                <a:solidFill>
                  <a:srgbClr val="1E1E24"/>
                </a:solidFill>
              </a:defRPr>
            </a:pPr>
            <a:r>
              <a:t>• Comportamiento: Máximo dinamismo juvenil relativo (ratio 0.88 respecto a la media seccional). Edomex, Veracruz, Guanajuato.</a:t>
            </a:r>
            <a:br/>
            <a:br/>
            <a:r>
              <a:t>• Factor Causal: Movilización por causas sociales (empleo, clima, derechos); deserción tras el primer voto por falta de representación.</a:t>
            </a:r>
            <a:br/>
            <a:br/>
            <a:r>
              <a:t>• Lema Cívico: "El futuro no espera: votar es exigir empleo digno, medio ambiente y derechos".</a:t>
            </a:r>
            <a:br/>
            <a:br/>
            <a:r>
              <a:t>• Acción INE: Módulos itinerantes en campus universitarios y debates cívicos en formatos de streaming.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8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1367E"/>
                </a:solidFill>
                <a:latin typeface="Arial"/>
              </a:defRPr>
            </a:pPr>
            <a:r>
              <a:t>RETO 1: PERFILES CIUDADANOS DE PARTICIPACIÓN   |   EQUIPO: BYTE ME   |   INE / ENCÍVICA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82D73"/>
                </a:solidFill>
                <a:latin typeface="Arial"/>
              </a:defRPr>
            </a:pPr>
            <a:r>
              <a:t>Perfiles: Volatilidad Presidencial y Núcleo Femenino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582D73"/>
                </a:solidFill>
              </a:defRPr>
            </a:pPr>
            <a:r>
              <a:t>C1: Pivote Presidencial Volátil</a:t>
            </a:r>
          </a:p>
          <a:p>
            <a:pPr>
              <a:spcAft>
                <a:spcPts val="1000"/>
              </a:spcAft>
              <a:defRPr sz="1050" b="1">
                <a:solidFill>
                  <a:srgbClr val="1E1E24"/>
                </a:solidFill>
              </a:defRPr>
            </a:pPr>
            <a:r>
              <a:t>20.3% de secciones  |  14.67 M electores (17.1% del Padrón Nacional)</a:t>
            </a:r>
          </a:p>
          <a:p>
            <a:pPr>
              <a:defRPr sz="1000">
                <a:solidFill>
                  <a:srgbClr val="1E1E24"/>
                </a:solidFill>
              </a:defRPr>
            </a:pPr>
            <a:r>
              <a:t>• Comportamiento: Votan masivamente en presidenciales (68%), pero se desploman 24.1 puntos porcentuales en comicios intermedios.</a:t>
            </a:r>
            <a:br/>
            <a:br/>
            <a:r>
              <a:t>• Factor Causal: Narrativa hiperpresidencialista mediática; desconocimiento del papel del Congreso en la vida diaria.</a:t>
            </a:r>
            <a:br/>
            <a:br/>
            <a:r>
              <a:t>• Lema Cívico: "Tu voz en cada periodo: el Congreso y tu municipio deciden tu presupuesto".</a:t>
            </a:r>
            <a:br/>
            <a:br/>
            <a:r>
              <a:t>• Acción INE: Campañas de pedagogía legislativa anticipadas 6 meses antes de elecciones intermedias.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D1367E"/>
                </a:solidFill>
              </a:defRPr>
            </a:pPr>
            <a:r>
              <a:t>C0: Voto Femenino Consistente</a:t>
            </a:r>
          </a:p>
          <a:p>
            <a:pPr>
              <a:spcAft>
                <a:spcPts val="1000"/>
              </a:spcAft>
              <a:defRPr sz="1050" b="1">
                <a:solidFill>
                  <a:srgbClr val="1E1E24"/>
                </a:solidFill>
              </a:defRPr>
            </a:pPr>
            <a:r>
              <a:t>23.9% de secciones  |  22.59 M electores (26.3% del Padrón Nacional)</a:t>
            </a:r>
          </a:p>
          <a:p>
            <a:pPr>
              <a:defRPr sz="1000">
                <a:solidFill>
                  <a:srgbClr val="1E1E24"/>
                </a:solidFill>
              </a:defRPr>
            </a:pPr>
            <a:r>
              <a:t>• Comportamiento: Máxima brecha pro-mujeres del país (+13.3% sobre hombres). Columna vertebral vecinal en Sinaloa y Chihuahua.</a:t>
            </a:r>
            <a:br/>
            <a:br/>
            <a:r>
              <a:t>• Factor Causal: Fuerte capital social de base; barreras de dobles jornadas y tareas de cuidados no remuneradas.</a:t>
            </a:r>
            <a:br/>
            <a:br/>
            <a:r>
              <a:t>• Lema Cívico: "Mujeres al frente: la fuerza organizada que transforma comunidades".</a:t>
            </a:r>
            <a:br/>
            <a:br/>
            <a:r>
              <a:t>• Acción INE: Formación cívica con perspectiva de género y ludotecas de apoyo para funcionarias y votantes con infantes.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8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1367E"/>
                </a:solidFill>
                <a:latin typeface="Arial"/>
              </a:defRPr>
            </a:pPr>
            <a:r>
              <a:t>RETO 1: PERFILES CIUDADANOS DE PARTICIPACIÓN   |   EQUIPO: BYTE ME   |   INE / ENCÍVICA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82D73"/>
                </a:solidFill>
                <a:latin typeface="Arial"/>
              </a:defRPr>
            </a:pPr>
            <a:r>
              <a:t>Perfil Rural / Mayor y Huella Cívica Multivariable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A896"/>
                </a:solidFill>
              </a:defRPr>
            </a:pPr>
            <a:r>
              <a:t>C3: Voto Tradicional Rural y Mayor</a:t>
            </a:r>
          </a:p>
          <a:p>
            <a:pPr>
              <a:spcAft>
                <a:spcPts val="1000"/>
              </a:spcAft>
              <a:defRPr sz="1050" b="1">
                <a:solidFill>
                  <a:srgbClr val="1E1E24"/>
                </a:solidFill>
              </a:defRPr>
            </a:pPr>
            <a:r>
              <a:t>6.2% de secciones  |  4.65 M electores (5.4% del Padrón Nacional)</a:t>
            </a:r>
          </a:p>
          <a:p>
            <a:pPr>
              <a:defRPr sz="1000">
                <a:solidFill>
                  <a:srgbClr val="1E1E24"/>
                </a:solidFill>
              </a:defRPr>
            </a:pPr>
            <a:r>
              <a:t>• Comportamiento: Máxima afluencia histórica de México (66.4% de participación media). 58% rural en Nuevo León, San Luis Potosí y Oaxaca.</a:t>
            </a:r>
            <a:br/>
            <a:br/>
            <a:r>
              <a:t>• Factor Causal: Voto concebido como deber moral y comunitario intergeneracional. Barreras de distancia física y dispersión geográfica.</a:t>
            </a:r>
            <a:br/>
            <a:br/>
            <a:r>
              <a:t>• Lema Cívico: "Tradición que une: el valor de la palabra y el compromiso comunitario".</a:t>
            </a:r>
            <a:br/>
            <a:br/>
            <a:r>
              <a:t>• Acción INE: Transporte comunitario coordinado, señalética bilingüe en lenguas originarias y accesibilidad para adultos mayores.</a:t>
            </a:r>
          </a:p>
        </p:txBody>
      </p:sp>
      <p:pic>
        <p:nvPicPr>
          <p:cNvPr id="7" name="Picture 6" descr="04_radar_clusters_pro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21208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8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1367E"/>
                </a:solidFill>
                <a:latin typeface="Arial"/>
              </a:defRPr>
            </a:pPr>
            <a:r>
              <a:t>RETO 1: PERFILES CIUDADANOS DE PARTICIPACIÓN   |   EQUIPO: BYTE ME   |   INE / ENCÍVICA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82D73"/>
                </a:solidFill>
                <a:latin typeface="Arial"/>
              </a:defRPr>
            </a:pPr>
            <a:r>
              <a:t>Matriz Estratégica Institucional para la ENCÍVICA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502920"/>
          </a:xfrm>
          <a:prstGeom prst="roundRect">
            <a:avLst/>
          </a:prstGeom>
          <a:solidFill>
            <a:srgbClr val="582D73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ARQUETIPO              OBJETIVO CÍVICO             CANAL PRIORITARIO                   ACCIÓN OPERATIVA 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10698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1E24"/>
                </a:solidFill>
              </a:defRPr>
            </a:pPr>
            <a:r>
              <a:t>• C2: Abstencionismo Urbano:  Reducir el costo del voto</a:t>
            </a:r>
            <a:br/>
            <a:r>
              <a:t>   Canal: Transporte masivo, apps y corporativos   |   Acción: Casillas especiales urbanas y convenios patronales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34639"/>
            <a:ext cx="10698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26079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1E24"/>
                </a:solidFill>
              </a:defRPr>
            </a:pPr>
            <a:r>
              <a:t>• C0: Femenino Consistente:  Reconocer liderazgos locales</a:t>
            </a:r>
            <a:br/>
            <a:r>
              <a:t>   Canal: Redes vecinales y centros de salud   |   Acción: Ludotecas infantiles junto a casillas y formación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10698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947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1E24"/>
                </a:solidFill>
              </a:defRPr>
            </a:pPr>
            <a:r>
              <a:t>• C1: Pivote Presidencial:  Frenar caída en intermedias</a:t>
            </a:r>
            <a:br/>
            <a:r>
              <a:t>   Canal: Medios masivos locales y radio   |   Acción: Campañas pedagógicas previas sobre el Congreso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72000"/>
            <a:ext cx="10698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66344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1E24"/>
                </a:solidFill>
              </a:defRPr>
            </a:pPr>
            <a:r>
              <a:t>• C4: Juventud en Expansión:  Fidelizar post-primer voto</a:t>
            </a:r>
            <a:br/>
            <a:r>
              <a:t>   Canal: Universidades, streaming y TikTok   |   Acción: Módulos itinerantes y debates cívicos de causas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440679"/>
            <a:ext cx="10698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532119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1E24"/>
                </a:solidFill>
              </a:defRPr>
            </a:pPr>
            <a:r>
              <a:t>• C3: Rural y Mayor:  Garantizar accesibilidad física</a:t>
            </a:r>
            <a:br/>
            <a:r>
              <a:t>   Canal: Radio indigenista y asambleas ejidales   |   Acción: Transporte coordinado y señalética bilingüe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8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1367E"/>
                </a:solidFill>
                <a:latin typeface="Arial"/>
              </a:defRPr>
            </a:pPr>
            <a:r>
              <a:t>RETO 1: PERFILES CIUDADANOS DE PARTICIPACIÓN   |   EQUIPO: BYTE ME   |   INE / ENCÍVICA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82D73"/>
                </a:solidFill>
                <a:latin typeface="Arial"/>
              </a:defRPr>
            </a:pPr>
            <a:r>
              <a:t>Conclusiones Estratégicas y Factibilidad de Despliegue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582D73"/>
                </a:solidFill>
              </a:defRPr>
            </a:pPr>
            <a:r>
              <a:t>Factibilidad Inmediata  •  Uso Directo de Infraestructura INE</a:t>
            </a:r>
          </a:p>
          <a:p>
            <a:pPr>
              <a:defRPr sz="1100">
                <a:solidFill>
                  <a:srgbClr val="1E1E24"/>
                </a:solidFill>
              </a:defRPr>
            </a:pPr>
            <a:r>
              <a:t>No requiere reformas legislativas; se instrumenta a través de los acuerdos de Consejo General del INE y planes de trabajo de las Juntas Distritales.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106984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88036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582D73"/>
                </a:solidFill>
              </a:defRPr>
            </a:pPr>
            <a:r>
              <a:t>Micro-Focalización Territorial  •  Superación de Campañas Genéricas</a:t>
            </a:r>
          </a:p>
          <a:p>
            <a:pPr>
              <a:defRPr sz="1100">
                <a:solidFill>
                  <a:srgbClr val="1E1E24"/>
                </a:solidFill>
              </a:defRPr>
            </a:pPr>
            <a:r>
              <a:t>La ENCÍVICA cuenta ahora con la georreferenciación de las 62,048 secciones asignadas a cada perfil para asignar presupuesto con precisión quirúrgica.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106984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25196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582D73"/>
                </a:solidFill>
              </a:defRPr>
            </a:pPr>
            <a:r>
              <a:t>Ética y Datos Abiertos  •  100% Reproducible y Transparente</a:t>
            </a:r>
          </a:p>
          <a:p>
            <a:pPr>
              <a:defRPr sz="1100">
                <a:solidFill>
                  <a:srgbClr val="1E1E24"/>
                </a:solidFill>
              </a:defRPr>
            </a:pPr>
            <a:r>
              <a:t>Pipeline completamente auditado en Python con datos agregados seccionales libres de PII, garantizando protección de datos y soberanía tecnológica.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D1367E"/>
                </a:solidFill>
              </a:defRPr>
            </a:pPr>
            <a:r>
              <a:t>Equipo Byte me  |  Johanan Olivares Gutierrez  •  Oscar Ariel Cuevas Martinez  •  Saul Alexis Arias Gonzales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