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SV/LN</c:v>
                </c:pt>
              </c:strCache>
            </c:strRef>
          </c:tx>
          <c:spPr>
            <a:solidFill>
              <a:srgbClr val="9CA3AF"/>
            </a:solidFill>
          </c:spP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43.0</c:v>
                </c:pt>
                <c:pt idx="1">
                  <c:v>62.0</c:v>
                </c:pt>
                <c:pt idx="2">
                  <c:v>44.2</c:v>
                </c:pt>
                <c:pt idx="3">
                  <c:v>58.1</c:v>
                </c:pt>
                <c:pt idx="4">
                  <c:v>49.6</c:v>
                </c:pt>
                <c:pt idx="5">
                  <c:v>55.8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SV/(SV+NV)</c:v>
                </c:pt>
              </c:strCache>
            </c:strRef>
          </c:tx>
          <c:spPr>
            <a:solidFill>
              <a:srgbClr val="1E3A8A"/>
            </a:solidFill>
          </c:spP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44.1</c:v>
                </c:pt>
                <c:pt idx="1">
                  <c:v>62.1</c:v>
                </c:pt>
                <c:pt idx="2">
                  <c:v>47.1</c:v>
                </c:pt>
                <c:pt idx="3">
                  <c:v>62.4</c:v>
                </c:pt>
                <c:pt idx="4">
                  <c:v>51.8</c:v>
                </c:pt>
                <c:pt idx="5">
                  <c:v>59.7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50"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2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C0</c:v>
                </c:pt>
              </c:strCache>
            </c:strRef>
          </c:tx>
          <c:spPr>
            <a:ln w="28575">
              <a:solidFill>
                <a:srgbClr val="C2410C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36.9</c:v>
                </c:pt>
                <c:pt idx="1">
                  <c:v>58.5</c:v>
                </c:pt>
                <c:pt idx="2">
                  <c:v>38.8</c:v>
                </c:pt>
                <c:pt idx="3">
                  <c:v>60.0</c:v>
                </c:pt>
                <c:pt idx="4">
                  <c:v>46.1</c:v>
                </c:pt>
                <c:pt idx="5">
                  <c:v>56.9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C1</c:v>
                </c:pt>
              </c:strCache>
            </c:strRef>
          </c:tx>
          <c:spPr>
            <a:ln w="28575">
              <a:solidFill>
                <a:srgbClr val="047857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59.2</c:v>
                </c:pt>
                <c:pt idx="1">
                  <c:v>69.2</c:v>
                </c:pt>
                <c:pt idx="2">
                  <c:v>64.2</c:v>
                </c:pt>
                <c:pt idx="3">
                  <c:v>68.2</c:v>
                </c:pt>
                <c:pt idx="4">
                  <c:v>62.5</c:v>
                </c:pt>
                <c:pt idx="5">
                  <c:v>65.7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C2</c:v>
                </c:pt>
              </c:strCache>
            </c:strRef>
          </c:tx>
          <c:spPr>
            <a:ln w="28575">
              <a:solidFill>
                <a:srgbClr val="1D4ED8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41.8</c:v>
                </c:pt>
                <c:pt idx="1">
                  <c:v>65.8</c:v>
                </c:pt>
                <c:pt idx="2">
                  <c:v>48.3</c:v>
                </c:pt>
                <c:pt idx="3">
                  <c:v>69.3</c:v>
                </c:pt>
                <c:pt idx="4">
                  <c:v>60.4</c:v>
                </c:pt>
                <c:pt idx="5">
                  <c:v>68.0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C3</c:v>
                </c:pt>
              </c:strCache>
            </c:strRef>
          </c:tx>
          <c:spPr>
            <a:ln w="28575">
              <a:solidFill>
                <a:srgbClr val="6D28D9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49.6</c:v>
                </c:pt>
                <c:pt idx="1">
                  <c:v>61.2</c:v>
                </c:pt>
                <c:pt idx="2">
                  <c:v>50.4</c:v>
                </c:pt>
                <c:pt idx="3">
                  <c:v>59.0</c:v>
                </c:pt>
                <c:pt idx="4">
                  <c:v>49.5</c:v>
                </c:pt>
                <c:pt idx="5">
                  <c:v>55.6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Media del panel</c:v>
                </c:pt>
              </c:strCache>
            </c:strRef>
          </c:tx>
          <c:spPr>
            <a:ln w="28575">
              <a:solidFill>
                <a:srgbClr val="6B7280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44.5</c:v>
                </c:pt>
                <c:pt idx="1">
                  <c:v>62.6</c:v>
                </c:pt>
                <c:pt idx="2">
                  <c:v>47.8</c:v>
                </c:pt>
                <c:pt idx="3">
                  <c:v>63.2</c:v>
                </c:pt>
                <c:pt idx="4">
                  <c:v>52.8</c:v>
                </c:pt>
                <c:pt idx="5">
                  <c:v>60.6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75.0"/>
          <c:min val="3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1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Presentamos ante el Instituto Nacional Electoral nuestra propuesta metodológica y operativa de segmentación ciudadana para el Reto 1. Desarrollamos una tipología seccional rigurosa a partir de los Conteos Censales de Participación Ciudadana de 2009 a 2024, con el objetivo de dotar a las direcciones operativas del instituto de herramientas cuantitativas para focalizar campañas de educación cívica, optimizar la integración de casillas y maximizar la movilización electoral en los comicios federales de 2027 y 2030.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Identificamos que calcular la participación dividiendo únicamente votos sobre lista nominal genera un severo sesgo por la presencia de registros no especificados, derivados de cuadernillos con captura incompleta o faltante. En 2018 este sesgo alcanzó 4.27 puntos y en 2024 representó 3.84 puntos porcentuales. Al aplicar estrictamente la formulación técnica de los manuales censales del INE, votos sobre votos más no votos, recuperamos la verdadera tasa de participación y evitamos clasificar erróneamente problemas de captura administrativa como abstencionismo ciudadano.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Validamos nuestra serie temporal nacional contra todas las publicaciones oficiales de la DECEyEC y los manuales del INE, logrando una coincidencia milimétrica en los seis comicios analizados. Para el modelo principal construimos un panel balanceado de 53,644 secciones continuas y con captura válida en 2,393 municipios, que concentra el 79.5% de la lista nominal nacional sin recurrir a imputaciones sintéticas. Adicionalmente, mediante asignación determinista por cercanía a centroides, extendemos la cobertura operativa de los perfiles al 91.5% de la ciudadanía.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Diseñamos un pipeline totalmente reproducible que sintetiza quince años de historia electoral en siete variables rectoras estandarizadas por sección. Aplicamos el algoritmo K-Means++ seleccionando cuatro perfiles, que supera a las opciones de cinco y seis grupos en coeficiente de Silhouette y estabilidad bootstrap con un ARI de 0.957. Demostramos la solidez del modelo mediante una validación fuera de tiempo: al calibrar solo con datos de 2009 a 2021, la estructura agrega un valor predictivo de nueve punto siete puntos porcentuales de R cuadrado.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tipología segmenta el país en cuatro dinámicas nítidas. C0 agrupa un tercio de las secciones en zonas metropolitanas con una profunda caída en elecciones intermedias y desafección juvenil. C1 representa comunidades altamente participativas y estables en todas las edades. C2 tiene una razón de participación juvenil que es la segunda más alta de los cuatro perfiles (0.88, después de C1 con 0.91); su ascenso histórico se concentra en las intermedias (41.8% a 48.3% a 60.4%), mientras que en presidenciales pasó de 69.3% a 68.0% entre 2018 y 2024. Finalmente, C3 presenta una brecha de género favorable a las mujeres explicada por baja participación masculina.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los perfiles ubicados por debajo de la media nacional proponemos intervenciones orientadas a cerrar brechas estructurales. En C0 la prioridad es combatir la apatía legislativa en entornos urbanos y facilitar la credencialización juvenil en centros laborales y universitarios, fijando como meta alcanzar 49.5% en 2027. En C3, con alta presencia rural, enfocamos los esfuerzos en activar el voto de los hombres en cooperativas y rutas laborales, junto con casillas extraordinarias que reduzcan las distancias de traslado.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perfiles que superan el promedio del panel requieren estrategias de blindaje y consolidación. En C1 el desafío operativo central es asegurar el relevo generacional en casillas mediante capacitación temprana. En C2, cuya razón de participación juvenil es la segunda más alta de los cuatro perfiles y su ascenso se concentra en las intermedias de 41.8% a 60.4%, proponemos profundizar el diálogo público mediante Conóceles y debates comunitarios para consolidar su piso de participación.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cumplimiento de las metas cuantitativas en C0 y C3 aportaría entre 607 mil y 1.27 millones de sufragios adicionales en las elecciones intermedias de 2027. Por el contrario, un descuido en C1 y C2 pondría en riesgo casi dos millones de votos si estas comunidades retrocedieran a sus niveles históricos. La priorización territorial demuestra una alta concentración: intervenir en las treinta principales juntas distritales de cada perfil permite cubrir hasta casi la mitad de su lista nominal.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Planteamos un diseño experimental riguroso para evaluar las intervenciones en el perfil prioritario C0 durante los comicios de 2027. Seleccionamos mil secciones aleatorizadas en quinientas de tratamiento y quinientas de control, con estratificación por entidad y tercil de participación previa. Con un modelo ANCOVA ajustado por línea base detectamos impactos desde uno punto cincuenta y siete puntos porcentuales con ochenta por ciento de potencia, a costo evaluativo marginal al aprovechar la infraestructura censal ordinaria del instituto.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Concluimos con tres recomendaciones prioritarias para robustecer la gobernanza de datos del INE: primero, incorporar un indicador explícito de estatus de captura seccional para aislar registros no especificados; segundo, fortalecer los controles operativos para reducir los cuadernillos sin capturar observados desde 2018; y tercero, publicar variables sociodemográficas sobre comunidades originarias en datos abiertos. Nuestro código y modelos están plenamente documentados y son reproducibles con un solo comando. Muchas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11094415" cy="201168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Perfiles ciudadanos de participación electoral en México, 2009–2024</a:t>
            </a:r>
          </a:p>
          <a:p>
            <a:pPr>
              <a:defRPr sz="2200">
                <a:solidFill>
                  <a:srgbClr val="E2E8F0"/>
                </a:solidFill>
                <a:latin typeface="Arial"/>
              </a:defRPr>
            </a:pPr>
            <a:r>
              <a:t>Tipología seccional y estrategias de educación cívica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8892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Arial"/>
              </a:defRPr>
            </a:pPr>
            <a:r>
              <a:t>Equipo Byte me · Reto 1: Perfiles ciudadanos de participación</a:t>
            </a:r>
          </a:p>
          <a:p>
            <a:pPr>
              <a:defRPr sz="1600" i="1">
                <a:solidFill>
                  <a:srgbClr val="1F2937"/>
                </a:solidFill>
                <a:latin typeface="Arial"/>
              </a:defRPr>
            </a:pPr>
            <a:r>
              <a:t>Concurso «Hackea la participación: Datos que construyen democracia»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749039"/>
            <a:ext cx="1109441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F2937"/>
                </a:solidFill>
                <a:latin typeface="Arial"/>
              </a:defRPr>
            </a:pPr>
            <a:r>
              <a:t>Johanan Olivares Gutiérrez (representante) · Oscar Ariel Cuevas Martínez · Saúl Alexis Arias González</a:t>
            </a:r>
          </a:p>
        </p:txBody>
      </p:sp>
      <p:pic>
        <p:nvPicPr>
          <p:cNvPr id="5" name="Picture 4" descr="icono_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407" y="4343400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0887" y="53949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C2410C"/>
                </a:solidFill>
                <a:latin typeface="Arial"/>
              </a:defRPr>
            </a:pPr>
            <a:r>
              <a:t>C0 · Baja Participación Intermitente con Rezago Juvenil</a:t>
            </a:r>
          </a:p>
        </p:txBody>
      </p:sp>
      <p:pic>
        <p:nvPicPr>
          <p:cNvPr id="7" name="Picture 6" descr="icono_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5782" y="4343400"/>
            <a:ext cx="1005840" cy="1005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474262" y="53949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047857"/>
                </a:solidFill>
                <a:latin typeface="Arial"/>
              </a:defRPr>
            </a:pPr>
            <a:r>
              <a:t>C1 · Alta Participación Estable e Intergeneracional</a:t>
            </a:r>
          </a:p>
        </p:txBody>
      </p:sp>
      <p:pic>
        <p:nvPicPr>
          <p:cNvPr id="9" name="Picture 8" descr="icono_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9157" y="4343400"/>
            <a:ext cx="1005840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47637" y="53949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1D4ED8"/>
                </a:solidFill>
                <a:latin typeface="Arial"/>
              </a:defRPr>
            </a:pPr>
            <a:r>
              <a:t>C2 · Participación en Ascenso con Juventud Activa</a:t>
            </a:r>
          </a:p>
        </p:txBody>
      </p:sp>
      <p:pic>
        <p:nvPicPr>
          <p:cNvPr id="11" name="Picture 10" descr="icono_c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2532" y="4343400"/>
            <a:ext cx="1005840" cy="1005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21012" y="53949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Arial"/>
              </a:defRPr>
            </a:pPr>
            <a:r>
              <a:t>C3 · Liderazgo Femenino con Participación Estancada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github.com/Johanan1113/Hackaton_INE_byte_me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Medir bien cambia el diagnóstico: la fórmula correcta recupera hasta 4.27 puntos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83464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4400" b="1">
                <a:solidFill>
                  <a:srgbClr val="1E3A8A"/>
                </a:solidFill>
                <a:latin typeface="Arial"/>
              </a:defRPr>
            </a:pPr>
            <a:r>
              <a:t>−4.27 pts</a:t>
            </a:r>
          </a:p>
          <a:p>
            <a:br/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subestimación de la participación nacional en 2018 al dividir entre la lista nominal (−3.84 pts en 2024).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554480"/>
            <a:ext cx="3200400" cy="777240"/>
          </a:xfrm>
          <a:prstGeom prst="roundRect">
            <a:avLst/>
          </a:prstGeom>
          <a:solidFill>
            <a:srgbClr val="F3F4F6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6B7280"/>
                </a:solidFill>
                <a:latin typeface="Arial"/>
              </a:defRPr>
            </a:pPr>
            <a:r>
              <a:t>Incorrecta: SV / LN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468880"/>
            <a:ext cx="3200400" cy="77724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73152" bIns="73152"/>
          <a:lstStyle/>
          <a:p>
            <a:pPr algn="ctr">
              <a:defRPr sz="1500" b="1">
                <a:solidFill>
                  <a:srgbClr val="1E3A8A"/>
                </a:solidFill>
                <a:latin typeface="Arial"/>
              </a:defRPr>
            </a:pPr>
            <a:r>
              <a:t>Correcta (Manual CCPC):</a:t>
            </a:r>
          </a:p>
          <a:p>
            <a:pPr algn="ctr">
              <a:defRPr sz="1500" b="1">
                <a:solidFill>
                  <a:srgbClr val="1E3A8A"/>
                </a:solidFill>
                <a:latin typeface="Arial"/>
              </a:defRPr>
            </a:pPr>
            <a:r>
              <a:t>SV / (SV + NV)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383280"/>
            <a:ext cx="3200400" cy="2834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>
                <a:solidFill>
                  <a:srgbClr val="1F2937"/>
                </a:solidFill>
                <a:latin typeface="Arial"/>
              </a:defRPr>
            </a:pPr>
            <a:r>
              <a:t>En 2018 y 2024, el 6.8% y el 6.4% de la lista nominal son registros no especificados (NS): cuadernillos sin marcas, no disponibles para captura o con páginas faltantes. Contarlos como abstención crea grupos artificiales de baja participación.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858000" y="1554480"/>
          <a:ext cx="475488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Nuestra serie reproduce las cifras censales del 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59436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94560"/>
                <a:gridCol w="2286000"/>
              </a:tblGrid>
              <a:tr h="561702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Año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Cálculo CCPC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Dato censal INE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2009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44.06%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44.06%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62.08%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62.08%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2015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47.07%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47.07%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62.37%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51.84%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51.8%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61708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59.67%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59.7%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858000" y="1554480"/>
            <a:ext cx="4754880" cy="11887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ctr">
              <a:defRPr sz="3600" b="1">
                <a:solidFill>
                  <a:srgbClr val="1E3A8A"/>
                </a:solidFill>
                <a:latin typeface="Arial"/>
              </a:defRPr>
            </a:pPr>
            <a:r>
              <a:t>53,644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secciones con serie completa 2009–2024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2907792"/>
            <a:ext cx="4754880" cy="11887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ctr">
              <a:defRPr sz="3600" b="1">
                <a:solidFill>
                  <a:srgbClr val="1E3A8A"/>
                </a:solidFill>
                <a:latin typeface="Arial"/>
              </a:defRPr>
            </a:pPr>
            <a:r>
              <a:t>79.5%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de la lista nominal 2024 en el modelo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4261104"/>
            <a:ext cx="4754880" cy="11887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ctr">
              <a:defRPr sz="3600" b="1">
                <a:solidFill>
                  <a:srgbClr val="047857"/>
                </a:solidFill>
                <a:latin typeface="Arial"/>
              </a:defRPr>
            </a:pPr>
            <a:r>
              <a:t>91.5%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de la lista nominal con perfil asignado para operar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B7280"/>
                </a:solidFill>
                <a:latin typeface="Arial"/>
              </a:defRPr>
            </a:pPr>
            <a:r>
              <a:t>Fuentes: DECEyEC, estudio comparativo 2009–2015; Manual de Conteos Censales 2009–2024 (p. 21).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Cuatro perfiles con un método reproducible y validado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Datos CCPC 2009–2024</a:t>
            </a:r>
            <a:br/>
            <a:r>
              <a:t>6 elecciones federales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42032" y="192024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Corrección SV/(SV+NV)</a:t>
            </a:r>
            <a:br/>
            <a:r>
              <a:t>y depuración sin imputar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28032" y="192024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7 indicadores</a:t>
            </a:r>
            <a:br/>
            <a:r>
              <a:t>por sección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114032" y="192024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K-Means++</a:t>
            </a:r>
            <a:br/>
            <a:r>
              <a:t>con k = 4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400032" y="192024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92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Validación</a:t>
            </a:r>
            <a:br/>
            <a:r>
              <a:t>y solidez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71800"/>
            <a:ext cx="5303520" cy="3017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1800" b="1">
                <a:solidFill>
                  <a:srgbClr val="1E3A8A"/>
                </a:solidFill>
                <a:latin typeface="Arial"/>
              </a:defRPr>
            </a:pPr>
            <a:r>
              <a:t>Indicadores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Participación media histórica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Brecha presidencial–intermedia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Tendencia anual de participación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Estabilidad en la participación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Brecha generacional (jóvenes vs. mayores)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Brecha de género (mujeres vs. hombres)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Razón de participación juvenil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971800"/>
            <a:ext cx="5394960" cy="3017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1800" b="1">
                <a:solidFill>
                  <a:srgbClr val="1E3A8A"/>
                </a:solidFill>
                <a:latin typeface="Arial"/>
              </a:defRPr>
            </a:pPr>
            <a:r>
              <a:t>Validación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Silhouette 0.179: el mejor en el rango 4–6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Estabilidad bootstrap: ARI 0.957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83.7% de las secciones conserva su perfil sin datos de 2024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Aporta ΔR² = 0.097 sobre el nivel histórico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Arial"/>
              </a:defRPr>
            </a:pPr>
            <a:r>
              <a:t>Las secciones forman un continuo: los perfiles son una segmentación operativa, no grupos naturales.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Cuatro perfiles, cuatro dinámicas de participación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594360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7" name="Picture 6" descr="icono_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6002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55448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C2410C"/>
                </a:solidFill>
                <a:latin typeface="Arial"/>
              </a:defRPr>
            </a:pPr>
            <a:r>
              <a:t>C0: Baja Participación Intermitente con Rezago Juvenil</a:t>
            </a:r>
          </a:p>
          <a:p>
            <a:pPr>
              <a:defRPr sz="1300" b="1">
                <a:solidFill>
                  <a:srgbClr val="1F2937"/>
                </a:solidFill>
                <a:latin typeface="Arial"/>
              </a:defRPr>
            </a:pPr>
            <a:r>
              <a:t>32.9% de las secciones · participación media 50.4%</a:t>
            </a:r>
          </a:p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Cae en elecciones intermedias y rezago juvenil</a:t>
            </a:r>
          </a:p>
        </p:txBody>
      </p:sp>
      <p:pic>
        <p:nvPicPr>
          <p:cNvPr id="9" name="Picture 8" descr="icono_c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743200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80960" y="269748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47857"/>
                </a:solidFill>
                <a:latin typeface="Arial"/>
              </a:defRPr>
            </a:pPr>
            <a:r>
              <a:t>C1: Alta Participación Estable e Intergeneracional</a:t>
            </a:r>
          </a:p>
          <a:p>
            <a:pPr>
              <a:defRPr sz="1300" b="1">
                <a:solidFill>
                  <a:srgbClr val="1F2937"/>
                </a:solidFill>
                <a:latin typeface="Arial"/>
              </a:defRPr>
            </a:pPr>
            <a:r>
              <a:t>16.4% de las secciones · participación media 65.1%</a:t>
            </a:r>
          </a:p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Alta y estable; integra a todas las edades</a:t>
            </a:r>
          </a:p>
        </p:txBody>
      </p:sp>
      <p:pic>
        <p:nvPicPr>
          <p:cNvPr id="11" name="Picture 10" descr="icono_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3886200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80960" y="384048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D4ED8"/>
                </a:solidFill>
                <a:latin typeface="Arial"/>
              </a:defRPr>
            </a:pPr>
            <a:r>
              <a:t>C2: Participación en Ascenso con Juventud Activa</a:t>
            </a:r>
          </a:p>
          <a:p>
            <a:pPr>
              <a:defRPr sz="1300" b="1">
                <a:solidFill>
                  <a:srgbClr val="1F2937"/>
                </a:solidFill>
                <a:latin typeface="Arial"/>
              </a:defRPr>
            </a:pPr>
            <a:r>
              <a:t>27.3% de las secciones · participación media 58.9%</a:t>
            </a:r>
          </a:p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Crece +1.28 pts por año con juventud activa</a:t>
            </a:r>
          </a:p>
        </p:txBody>
      </p:sp>
      <p:pic>
        <p:nvPicPr>
          <p:cNvPr id="13" name="Picture 12" descr="icono_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5029200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80960" y="498348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6D28D9"/>
                </a:solidFill>
                <a:latin typeface="Arial"/>
              </a:defRPr>
            </a:pPr>
            <a:r>
              <a:t>C3: Liderazgo Femenino con Participación Estancada</a:t>
            </a:r>
          </a:p>
          <a:p>
            <a:pPr>
              <a:defRPr sz="1300" b="1">
                <a:solidFill>
                  <a:srgbClr val="1F2937"/>
                </a:solidFill>
                <a:latin typeface="Arial"/>
              </a:defRPr>
            </a:pPr>
            <a:r>
              <a:t>23.4% de las secciones · participación media 55.4%</a:t>
            </a:r>
          </a:p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Las mujeres votan 11.2 pts más; cae en presidenciales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Dos perfiles concentran el margen de mejora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5394960" cy="594360"/>
          </a:xfrm>
          <a:prstGeom prst="roundRect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o_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5448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34440" y="1527048"/>
            <a:ext cx="4617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C0: Baja Participación Intermitente con Rezago Juvenil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C2410C"/>
                </a:solidFill>
                <a:latin typeface="Arial"/>
              </a:defRPr>
            </a:pPr>
            <a:r>
              <a:t>50.4%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participación media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76272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C2410C"/>
                </a:solidFill>
                <a:latin typeface="Arial"/>
              </a:defRPr>
            </a:pPr>
            <a:r>
              <a:t>46.1%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intermedia 2021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03904" y="2121408"/>
            <a:ext cx="2139696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C2410C"/>
                </a:solidFill>
                <a:latin typeface="Arial"/>
              </a:defRPr>
            </a:pPr>
            <a:r>
              <a:t>+17.3 pts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brecha pres.–inter.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64992"/>
            <a:ext cx="5394960" cy="29443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54864"/>
          <a:lstStyle/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Qué proponemos: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Pedagogía sobre elecciones intermedias en transporte masivo y medios digitales; módulos itinerantes de credencialización para jóvenes que no estudian y en universidades.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Meta:</a:t>
            </a:r>
          </a:p>
          <a:p>
            <a:pPr algn="l">
              <a:defRPr sz="1400" b="1">
                <a:solidFill>
                  <a:srgbClr val="C2410C"/>
                </a:solidFill>
                <a:latin typeface="Arial"/>
              </a:defRPr>
            </a:pPr>
            <a:r>
              <a:t>49.5% en la intermedia 2027 (+3.3 pts) · voto juvenil 39.1%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Dónde empezar: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Chihuahua 03 · Estado de México 31 · Puebla 09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08760"/>
            <a:ext cx="5394960" cy="594360"/>
          </a:xfrm>
          <a:prstGeom prst="roundRect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o_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5544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03720" y="1527048"/>
            <a:ext cx="4617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C3: Liderazgo Femenino con Participación Estancada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6D28D9"/>
                </a:solidFill>
                <a:latin typeface="Arial"/>
              </a:defRPr>
            </a:pPr>
            <a:r>
              <a:t>55.4%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participación media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45552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6D28D9"/>
                </a:solidFill>
                <a:latin typeface="Arial"/>
              </a:defRPr>
            </a:pPr>
            <a:r>
              <a:t>49.5%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intermedia 2021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73184" y="2121408"/>
            <a:ext cx="2139696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6D28D9"/>
                </a:solidFill>
                <a:latin typeface="Arial"/>
              </a:defRPr>
            </a:pPr>
            <a:r>
              <a:t>+11.2 pts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brecha de género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364992"/>
            <a:ext cx="5394960" cy="29443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54864"/>
          <a:lstStyle/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Qué proponemos: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Promoción del voto masculino en centros de trabajo agropecuarios, industriales y de transporte, y en radio regional; rutas móviles y casillas extraordinarias en localidades dispersas.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Meta:</a:t>
            </a:r>
          </a:p>
          <a:p>
            <a:pPr algn="l">
              <a:defRPr sz="1400" b="1">
                <a:solidFill>
                  <a:srgbClr val="6D28D9"/>
                </a:solidFill>
                <a:latin typeface="Arial"/>
              </a:defRPr>
            </a:pPr>
            <a:r>
              <a:t>51.1% en 2027 · 58.1% en 2030 · voto masculino 46.3%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Dónde empezar: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Guanajuato 02 · Estado de México 32 · Sonora 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Dos perfiles que hay que sostener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5394960" cy="594360"/>
          </a:xfrm>
          <a:prstGeom prst="roundRect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o_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5448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34440" y="1527048"/>
            <a:ext cx="4617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C1: Alta Participación Estable e Intergeneracional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047857"/>
                </a:solidFill>
                <a:latin typeface="Arial"/>
              </a:defRPr>
            </a:pPr>
            <a:r>
              <a:t>65.1%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participación media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76272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047857"/>
                </a:solidFill>
                <a:latin typeface="Arial"/>
              </a:defRPr>
            </a:pPr>
            <a:r>
              <a:t>62.5%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intermedia 2021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03904" y="2121408"/>
            <a:ext cx="2139696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047857"/>
                </a:solidFill>
                <a:latin typeface="Arial"/>
              </a:defRPr>
            </a:pPr>
            <a:r>
              <a:t>59.1%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voto juvenil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64992"/>
            <a:ext cx="5394960" cy="29443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54864"/>
          <a:lstStyle/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Qué proponemos: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Reconocimiento a la constancia cívica, talleres juveniles y sensibilización de la ciudadanía insaculada para integrar casillas.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Meta:</a:t>
            </a:r>
          </a:p>
          <a:p>
            <a:pPr algn="l">
              <a:defRPr sz="1400" b="1">
                <a:solidFill>
                  <a:srgbClr val="047857"/>
                </a:solidFill>
                <a:latin typeface="Arial"/>
              </a:defRPr>
            </a:pPr>
            <a:r>
              <a:t>≥ 62.5% en 2027 · ≥ 65.7% en 2030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Dónde empezar: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Jalisco 18 · Campeche 01 · Nuevo León 04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08760"/>
            <a:ext cx="5394960" cy="594360"/>
          </a:xfrm>
          <a:prstGeom prst="round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o_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5544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03720" y="1527048"/>
            <a:ext cx="4617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C2: Participación en Ascenso con Juventud Activa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1D4ED8"/>
                </a:solidFill>
                <a:latin typeface="Arial"/>
              </a:defRPr>
            </a:pPr>
            <a:r>
              <a:t>58.9%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participación media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45552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1D4ED8"/>
                </a:solidFill>
                <a:latin typeface="Arial"/>
              </a:defRPr>
            </a:pPr>
            <a:r>
              <a:t>60.4%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intermedia 2021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73184" y="2121408"/>
            <a:ext cx="2139696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1D4ED8"/>
                </a:solidFill>
                <a:latin typeface="Arial"/>
              </a:defRPr>
            </a:pPr>
            <a:r>
              <a:t>+1.28 pts/año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tendencia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364992"/>
            <a:ext cx="5394960" cy="29443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54864"/>
          <a:lstStyle/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Qué proponemos: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Foros «Diálogos por la Democracia», alianzas con colectivos juveniles y difusión de «Conóceles» para consultar información de todas las candidaturas.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Meta:</a:t>
            </a:r>
          </a:p>
          <a:p>
            <a:pPr algn="l">
              <a:defRPr sz="1400" b="1">
                <a:solidFill>
                  <a:srgbClr val="1D4ED8"/>
                </a:solidFill>
                <a:latin typeface="Arial"/>
              </a:defRPr>
            </a:pPr>
            <a:r>
              <a:t>≥ 60.4% en 2027 · razón juvenil ≥ 0.88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Dónde empezar: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Ciudad de México 15 · Tlaxcala 03 · Ciudad de México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Hasta 1.27 millones de votantes adicionales en 2027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303520" cy="13716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73152" bIns="73152"/>
          <a:lstStyle/>
          <a:p>
            <a:pPr algn="ctr">
              <a:defRPr sz="3000" b="1">
                <a:solidFill>
                  <a:srgbClr val="047857"/>
                </a:solidFill>
                <a:latin typeface="Arial"/>
              </a:defRPr>
            </a:pPr>
            <a:r>
              <a:t>607 mil – 1.27 millones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votantes adicionales si se cumplen las metas de C0 y C3 (escenario conservador – meta)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394960" cy="13716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73152" bIns="73152"/>
          <a:lstStyle/>
          <a:p>
            <a:pPr algn="ctr">
              <a:defRPr sz="3000" b="1">
                <a:solidFill>
                  <a:srgbClr val="C2410C"/>
                </a:solidFill>
                <a:latin typeface="Arial"/>
              </a:defRPr>
            </a:pPr>
            <a:r>
              <a:t>≈ 1.97 millones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votantes en riesgo en C1 y C2 si regresan a su promedio intermedio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108960"/>
          <a:ext cx="11094415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011680"/>
                <a:gridCol w="4114800"/>
                <a:gridCol w="1493215"/>
              </a:tblGrid>
              <a:tr h="530352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Perfil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Impacto 2027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Top 3 juntas distritales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% de su LN en 30 juntas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C2410C"/>
                          </a:solidFill>
                          <a:latin typeface="Arial"/>
                        </a:defRPr>
                      </a:pPr>
                      <a:r>
                        <a:t>C0: Baja Participación Intermitente con Rezago Juvenil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C2410C"/>
                          </a:solidFill>
                          <a:latin typeface="Arial"/>
                        </a:defRPr>
                      </a:pPr>
                      <a:r>
                        <a:t>≈ 938 mil adicionales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Chihuahua 03 · Estado de México 31 · Puebla 09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23.7%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47857"/>
                          </a:solidFill>
                          <a:latin typeface="Arial"/>
                        </a:defRPr>
                      </a:pPr>
                      <a:r>
                        <a:t>C1: Alta Participación Estable e Intergeneracional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47857"/>
                          </a:solidFill>
                          <a:latin typeface="Arial"/>
                        </a:defRPr>
                      </a:pPr>
                      <a:r>
                        <a:t>≈ 58 mil en riesgo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Jalisco 18 · Campeche 01 · Nuevo León 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49.2%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C2: Participación en Ascenso con Juventud Activa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≈ 1.92 millones en riesgo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Ciudad de México 15 · Tlaxcala 03 · Ciudad de México 10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31.2%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6D28D9"/>
                          </a:solidFill>
                          <a:latin typeface="Arial"/>
                        </a:defRPr>
                      </a:pPr>
                      <a:r>
                        <a:t>C3: Liderazgo Femenino con Participación Estancada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6D28D9"/>
                          </a:solidFill>
                          <a:latin typeface="Arial"/>
                        </a:defRPr>
                      </a:pPr>
                      <a:r>
                        <a:t>≈ 333 mil adicionales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Guanajuato 02 · Estado de México 32 · Sonora 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28.5%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B7280"/>
                </a:solidFill>
                <a:latin typeface="Arial"/>
              </a:defRPr>
            </a:pPr>
            <a:r>
              <a:t>Estimación con la lista nominal 2024.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Un piloto que se evalúa con los propios datos del 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1,000 secciones</a:t>
            </a:r>
            <a:br/>
            <a:r>
              <a:t>del perfil C0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42032" y="196596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E3A8A"/>
                </a:solidFill>
                <a:latin typeface="Arial"/>
              </a:defRPr>
            </a:pPr>
            <a:r>
              <a:t>Aleatorización estratificada</a:t>
            </a:r>
            <a:br/>
            <a:r>
              <a:t>(entidad × tercil 2021)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28032" y="196596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500 tratamiento</a:t>
            </a:r>
            <a:br/>
            <a:r>
              <a:t>500 de control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114032" y="196596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Medición con el</a:t>
            </a:r>
            <a:br/>
            <a:r>
              <a:t>CCPC 2027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400032" y="196596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92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Análisis</a:t>
            </a:r>
            <a:br/>
            <a:r>
              <a:t>ANCOVA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08960"/>
            <a:ext cx="3474720" cy="2377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4000" b="1">
                <a:solidFill>
                  <a:srgbClr val="1E3A8A"/>
                </a:solidFill>
                <a:latin typeface="Arial"/>
              </a:defRPr>
            </a:pPr>
            <a:r>
              <a:t>1.57 pts</a:t>
            </a:r>
          </a:p>
          <a:p>
            <a:pPr algn="ctr">
              <a:defRPr sz="1600">
                <a:solidFill>
                  <a:srgbClr val="1F2937"/>
                </a:solidFill>
                <a:latin typeface="Arial"/>
              </a:defRPr>
            </a:pPr>
            <a:br/>
            <a:r>
              <a:t>efecto mínimo detectable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108960"/>
            <a:ext cx="3474720" cy="2377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4000" b="1">
                <a:solidFill>
                  <a:srgbClr val="1E3A8A"/>
                </a:solidFill>
                <a:latin typeface="Arial"/>
              </a:defRPr>
            </a:pPr>
            <a:r>
              <a:t>80%</a:t>
            </a:r>
          </a:p>
          <a:p>
            <a:pPr algn="ctr">
              <a:defRPr sz="1600">
                <a:solidFill>
                  <a:srgbClr val="1F2937"/>
                </a:solidFill>
                <a:latin typeface="Arial"/>
              </a:defRPr>
            </a:pPr>
            <a:br/>
            <a:r>
              <a:t>potencia (α = 0.05)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108960"/>
            <a:ext cx="3474720" cy="2377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3400" b="1">
                <a:solidFill>
                  <a:srgbClr val="047857"/>
                </a:solidFill>
                <a:latin typeface="Arial"/>
              </a:defRPr>
            </a:pPr>
            <a:r>
              <a:t>Costo marginal</a:t>
            </a:r>
          </a:p>
          <a:p>
            <a:pPr algn="ctr">
              <a:defRPr sz="1600">
                <a:solidFill>
                  <a:srgbClr val="1F2937"/>
                </a:solidFill>
                <a:latin typeface="Arial"/>
              </a:defRPr>
            </a:pPr>
            <a:br/>
            <a:r>
              <a:t>usa el conteo censal existente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06440"/>
            <a:ext cx="1109441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Arial"/>
              </a:defRPr>
            </a:pPr>
            <a:r>
              <a:t>Las campañas masivas se evalúan por distrito. Si se aleatoriza por bloques de secciones, se ajusta por efecto de diseño.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Tres recomendaciones al 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109441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1600">
                <a:solidFill>
                  <a:srgbClr val="1F2937"/>
                </a:solidFill>
                <a:latin typeface="Arial"/>
              </a:defRPr>
            </a:pPr>
            <a:r>
              <a:t>1. Publicar en los CSV abiertos una bandera de estatus de captura por sección, para que los registros NS no se confundan con abstención.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06039"/>
            <a:ext cx="1109441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1600">
                <a:solidFill>
                  <a:srgbClr val="1F2937"/>
                </a:solidFill>
                <a:latin typeface="Arial"/>
              </a:defRPr>
            </a:pPr>
            <a:r>
              <a:t>2. Reforzar la captura de cuadernillos: NS pasó de 0.22% en 2012 a 6.83% en 2018 y 6.43% en 2024.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1109441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1600">
                <a:solidFill>
                  <a:srgbClr val="1F2937"/>
                </a:solidFill>
                <a:latin typeface="Arial"/>
              </a:defRPr>
            </a:pPr>
            <a:r>
              <a:t>3. Publicar el indicador de población indígena y afromexicana en los CSV abiertos y cruzar la tipología con el Censo 2020.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11094415" cy="68580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E3A8A"/>
                </a:solidFill>
                <a:latin typeface="Arial"/>
              </a:defRPr>
            </a:pPr>
            <a:r>
              <a:t>Código reproducible: github.com/Johanan1113/Hackaton_INE_byte_me · python run_all.py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15000"/>
            <a:ext cx="1109441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E3A8A"/>
                </a:solidFill>
                <a:latin typeface="Arial"/>
              </a:defRPr>
            </a:pPr>
            <a:r>
              <a:t>Gracias · Equipo Byte 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