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SV/LN</c:v>
                </c:pt>
              </c:strCache>
            </c:strRef>
          </c:tx>
          <c:spPr>
            <a:solidFill>
              <a:srgbClr val="9CA3AF"/>
            </a:solidFill>
          </c:spPr>
          <c:cat>
            <c:strRef>
              <c:f>Sheet1!$A$2:$A$7</c:f>
              <c:strCache>
                <c:ptCount val="6"/>
                <c:pt idx="0">
                  <c:v>2009</c:v>
                </c:pt>
                <c:pt idx="1">
                  <c:v>2012</c:v>
                </c:pt>
                <c:pt idx="2">
                  <c:v>2015</c:v>
                </c:pt>
                <c:pt idx="3">
                  <c:v>2018</c:v>
                </c:pt>
                <c:pt idx="4">
                  <c:v>2021</c:v>
                </c:pt>
                <c:pt idx="5">
                  <c:v>2024</c:v>
                </c:pt>
              </c:strCache>
            </c:strRef>
          </c:cat>
          <c:val>
            <c:numRef>
              <c:f>Sheet1!$B$2:$B$7</c:f>
              <c:numCache>
                <c:formatCode>General</c:formatCode>
                <c:ptCount val="6"/>
                <c:pt idx="0">
                  <c:v>44.1</c:v>
                </c:pt>
                <c:pt idx="1">
                  <c:v>62.0</c:v>
                </c:pt>
                <c:pt idx="2">
                  <c:v>46.5</c:v>
                </c:pt>
                <c:pt idx="3">
                  <c:v>58.1</c:v>
                </c:pt>
                <c:pt idx="4">
                  <c:v>51.5</c:v>
                </c:pt>
                <c:pt idx="5">
                  <c:v>55.8</c:v>
                </c:pt>
              </c:numCache>
            </c:numRef>
          </c:val>
        </c:ser>
        <c:ser>
          <c:idx val="1"/>
          <c:order val="1"/>
          <c:tx>
            <c:strRef>
              <c:f>Sheet1!$C$1</c:f>
              <c:strCache>
                <c:ptCount val="1"/>
                <c:pt idx="0">
                  <c:v>SV/(SV+NV)</c:v>
                </c:pt>
              </c:strCache>
            </c:strRef>
          </c:tx>
          <c:spPr>
            <a:solidFill>
              <a:srgbClr val="1E3A8A"/>
            </a:solidFill>
          </c:spPr>
          <c:cat>
            <c:strRef>
              <c:f>Sheet1!$A$2:$A$7</c:f>
              <c:strCache>
                <c:ptCount val="6"/>
                <c:pt idx="0">
                  <c:v>2009</c:v>
                </c:pt>
                <c:pt idx="1">
                  <c:v>2012</c:v>
                </c:pt>
                <c:pt idx="2">
                  <c:v>2015</c:v>
                </c:pt>
                <c:pt idx="3">
                  <c:v>2018</c:v>
                </c:pt>
                <c:pt idx="4">
                  <c:v>2021</c:v>
                </c:pt>
                <c:pt idx="5">
                  <c:v>2024</c:v>
                </c:pt>
              </c:strCache>
            </c:strRef>
          </c:cat>
          <c:val>
            <c:numRef>
              <c:f>Sheet1!$C$2:$C$7</c:f>
              <c:numCache>
                <c:formatCode>General</c:formatCode>
                <c:ptCount val="6"/>
                <c:pt idx="0">
                  <c:v>44.1</c:v>
                </c:pt>
                <c:pt idx="1">
                  <c:v>62.1</c:v>
                </c:pt>
                <c:pt idx="2">
                  <c:v>47.1</c:v>
                </c:pt>
                <c:pt idx="3">
                  <c:v>62.4</c:v>
                </c:pt>
                <c:pt idx="4">
                  <c:v>51.8</c:v>
                </c:pt>
                <c:pt idx="5">
                  <c:v>59.7</c:v>
                </c:pt>
              </c:numCache>
            </c:numRef>
          </c:val>
        </c:ser>
        <c:dLbls>
          <c:txPr>
            <a:bodyPr/>
            <a:lstStyle/>
            <a:p>
              <a:pPr>
                <a:defRPr sz="850">
                  <a:latin typeface="Arial"/>
                </a:defRPr>
              </a:pPr>
            </a:p>
          </c:txPr>
          <c:showLegendKey val="0"/>
          <c:showVal val="1"/>
          <c:showCatName val="0"/>
          <c:showSerName val="0"/>
          <c:showPercent val="0"/>
          <c:showBubbleSize val="0"/>
          <c:showLeaderLines val="1"/>
        </c:dLbls>
        <c:gapWidth val="120"/>
        <c:overlap val="-10"/>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100">
                <a:latin typeface="Arial"/>
              </a:defRPr>
            </a:pPr>
          </a:p>
        </c:txPr>
        <c:crossAx val="-2068027336"/>
        <c:crosses val="autoZero"/>
      </c:valAx>
    </c:plotArea>
    <c:legend>
      <c:legendPos val="t"/>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C0</c:v>
                </c:pt>
              </c:strCache>
            </c:strRef>
          </c:tx>
          <c:spPr>
            <a:ln w="33020">
              <a:solidFill>
                <a:srgbClr val="C2410C"/>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Sheet1!$B$2:$B$7</c:f>
              <c:numCache>
                <c:formatCode>General</c:formatCode>
                <c:ptCount val="6"/>
                <c:pt idx="0">
                  <c:v>38.5</c:v>
                </c:pt>
                <c:pt idx="1">
                  <c:v>59.9</c:v>
                </c:pt>
                <c:pt idx="2">
                  <c:v>41.5</c:v>
                </c:pt>
                <c:pt idx="3">
                  <c:v>60.1</c:v>
                </c:pt>
                <c:pt idx="4">
                  <c:v>46.1</c:v>
                </c:pt>
                <c:pt idx="5">
                  <c:v>56.9</c:v>
                </c:pt>
              </c:numCache>
            </c:numRef>
          </c:val>
          <c:smooth val="0"/>
        </c:ser>
        <c:ser>
          <c:idx val="1"/>
          <c:order val="1"/>
          <c:tx>
            <c:strRef>
              <c:f>Sheet1!$C$1</c:f>
              <c:strCache>
                <c:ptCount val="1"/>
                <c:pt idx="0">
                  <c:v>C1</c:v>
                </c:pt>
              </c:strCache>
            </c:strRef>
          </c:tx>
          <c:spPr>
            <a:ln w="33020">
              <a:solidFill>
                <a:srgbClr val="047857"/>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Sheet1!$C$2:$C$7</c:f>
              <c:numCache>
                <c:formatCode>General</c:formatCode>
                <c:ptCount val="6"/>
                <c:pt idx="0">
                  <c:v>58.8</c:v>
                </c:pt>
                <c:pt idx="1">
                  <c:v>70.8</c:v>
                </c:pt>
                <c:pt idx="2">
                  <c:v>62.0</c:v>
                </c:pt>
                <c:pt idx="3">
                  <c:v>71.9</c:v>
                </c:pt>
                <c:pt idx="4">
                  <c:v>62.5</c:v>
                </c:pt>
                <c:pt idx="5">
                  <c:v>65.7</c:v>
                </c:pt>
              </c:numCache>
            </c:numRef>
          </c:val>
          <c:smooth val="0"/>
        </c:ser>
        <c:ser>
          <c:idx val="2"/>
          <c:order val="2"/>
          <c:tx>
            <c:strRef>
              <c:f>Sheet1!$D$1</c:f>
              <c:strCache>
                <c:ptCount val="1"/>
                <c:pt idx="0">
                  <c:v>C2</c:v>
                </c:pt>
              </c:strCache>
            </c:strRef>
          </c:tx>
          <c:spPr>
            <a:ln w="33020">
              <a:solidFill>
                <a:srgbClr val="1D4ED8"/>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Sheet1!$D$2:$D$7</c:f>
              <c:numCache>
                <c:formatCode>General</c:formatCode>
                <c:ptCount val="6"/>
                <c:pt idx="0">
                  <c:v>41.8</c:v>
                </c:pt>
                <c:pt idx="1">
                  <c:v>63.8</c:v>
                </c:pt>
                <c:pt idx="2">
                  <c:v>48.0</c:v>
                </c:pt>
                <c:pt idx="3">
                  <c:v>67.2</c:v>
                </c:pt>
                <c:pt idx="4">
                  <c:v>60.4</c:v>
                </c:pt>
                <c:pt idx="5">
                  <c:v>68.0</c:v>
                </c:pt>
              </c:numCache>
            </c:numRef>
          </c:val>
          <c:smooth val="0"/>
        </c:ser>
        <c:ser>
          <c:idx val="3"/>
          <c:order val="3"/>
          <c:tx>
            <c:strRef>
              <c:f>Sheet1!$E$1</c:f>
              <c:strCache>
                <c:ptCount val="1"/>
                <c:pt idx="0">
                  <c:v>C3</c:v>
                </c:pt>
              </c:strCache>
            </c:strRef>
          </c:tx>
          <c:spPr>
            <a:ln w="33020">
              <a:solidFill>
                <a:srgbClr val="6D28D9"/>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Sheet1!$E$2:$E$7</c:f>
              <c:numCache>
                <c:formatCode>General</c:formatCode>
                <c:ptCount val="6"/>
                <c:pt idx="0">
                  <c:v>49.6</c:v>
                </c:pt>
                <c:pt idx="1">
                  <c:v>61.2</c:v>
                </c:pt>
                <c:pt idx="2">
                  <c:v>50.4</c:v>
                </c:pt>
                <c:pt idx="3">
                  <c:v>60.0</c:v>
                </c:pt>
                <c:pt idx="4">
                  <c:v>49.5</c:v>
                </c:pt>
                <c:pt idx="5">
                  <c:v>55.6</c:v>
                </c:pt>
              </c:numCache>
            </c:numRef>
          </c:val>
          <c:smooth val="0"/>
        </c:ser>
        <c:ser>
          <c:idx val="4"/>
          <c:order val="4"/>
          <c:tx>
            <c:strRef>
              <c:f>Sheet1!$F$1</c:f>
              <c:strCache>
                <c:ptCount val="1"/>
                <c:pt idx="0">
                  <c:v>Media del panel</c:v>
                </c:pt>
              </c:strCache>
            </c:strRef>
          </c:tx>
          <c:spPr>
            <a:ln w="25400">
              <a:solidFill>
                <a:srgbClr val="6B7280"/>
              </a:solidFill>
            </a:ln>
          </c:spPr>
          <c:marker>
            <c:symbol val="none"/>
          </c:marker>
          <c:cat>
            <c:strRef>
              <c:f>Sheet1!$A$2:$A$7</c:f>
              <c:strCache>
                <c:ptCount val="6"/>
                <c:pt idx="0">
                  <c:v>2009</c:v>
                </c:pt>
                <c:pt idx="1">
                  <c:v>2012</c:v>
                </c:pt>
                <c:pt idx="2">
                  <c:v>2015</c:v>
                </c:pt>
                <c:pt idx="3">
                  <c:v>2018</c:v>
                </c:pt>
                <c:pt idx="4">
                  <c:v>2021</c:v>
                </c:pt>
                <c:pt idx="5">
                  <c:v>2024</c:v>
                </c:pt>
              </c:strCache>
            </c:strRef>
          </c:cat>
          <c:val>
            <c:numRef>
              <c:f>Sheet1!$F$2:$F$7</c:f>
              <c:numCache>
                <c:formatCode>General</c:formatCode>
                <c:ptCount val="6"/>
                <c:pt idx="0">
                  <c:v>44.5</c:v>
                </c:pt>
                <c:pt idx="1">
                  <c:v>62.6</c:v>
                </c:pt>
                <c:pt idx="2">
                  <c:v>47.7</c:v>
                </c:pt>
                <c:pt idx="3">
                  <c:v>63.2</c:v>
                </c:pt>
                <c:pt idx="4">
                  <c:v>52.8</c:v>
                </c:pt>
                <c:pt idx="5">
                  <c:v>60.5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latin typeface="Arial"/>
              </a:defRPr>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100">
                <a:latin typeface="Arial"/>
              </a:defRPr>
            </a:pPr>
          </a:p>
        </c:txPr>
        <c:crossAx val="2118791784"/>
        <c:crosses val="autoZero"/>
      </c:valAx>
    </c:plotArea>
    <c:legend>
      <c:legendPos val="t"/>
      <c:layout/>
      <c:overlay val="0"/>
      <c:txPr>
        <a:bodyPr/>
        <a:lstStyle/>
        <a:p>
          <a:pPr>
            <a:defRPr sz="11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ante el Instituto Nacional Electoral nuestra propuesta metodológica y operativa de segmentación ciudadana para el Reto 1. Desarrollamos una tipología seccional rigurosa a partir de los Conteos Censales de Participación Ciudadana de 2009 a 2024, con el objetivo de dotar a las direcciones operativas del instituto de herramientas cuantitativas para focalizar campañas de educación cívica, optimizar la integración de casillas y maximizar la movilización electoral en los comicios federales de 2027 y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Identificamos que calcular la participación dividiendo únicamente votos sobre lista nominal genera un severo sesgo por la presencia de registros no especificados, derivados de cuadernillos con captura incompleta o faltante. En 2018 este sesgo alcanzó 4.27 puntos y en 2024 representó 3.84 puntos porcentuales. Al aplicar estrictamente la formulación técnica de los manuales censales del INE, votos sobre votos más no votos, recuperamos la verdadera tasa de participación y evitamos clasificar erróneamente problemas de captura administrativa como abstencionismo ciudadano.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Validamos nuestra serie temporal nacional contra todas las publicaciones oficiales de la DECEyEC y los manuales del INE, logrando una coincidencia milimétrica en los seis comicios analizados. Para el modelo principal construimos un panel balanceado de 53,644 secciones continuas y con captura válida en 2,393 municipios, que concentra el 79.5% de la lista nominal nacional sin recurrir a imputaciones sintéticas. Adicionalmente, mediante asignación determinista por cercanía a centroides, extendemos la cobertura operativa de los perfiles al 91.5% de la ciudadanía.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Diseñamos un pipeline totalmente reproducible que sintetiza quince años de historia electoral en siete variables rectoras estandarizadas por sección. Aplicamos el algoritmo K-Means++ seleccionando cuatro perfiles, que supera a las opciones de cinco y seis grupos en coeficiente de Silhouette y estabilidad bootstrap con un ARI de 0.957. Demostramos la solidez del modelo mediante una validación fuera de tiempo: al calibrar solo con datos de 2009 a 2021, la estructura agrega un valor predictivo de nueve punto siete puntos porcentuales de R cuadrado.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tipología segmenta el país en cuatro dinámicas nítidas. C0 agrupa un tercio de las secciones en zonas metropolitanas con una profunda caída en elecciones intermedias y desafección juvenil. C1 representa comunidades altamente participativas y estables en todas las edades. C2 es el perfil más dinámico, con un crecimiento promedio de uno punto veintiocho puntos por año impulsado por las nuevas generaciones. Finalmente, C3 se caracteriza por una marcada brecha favorable a las mujeres de once puntos, pero con un estancamiento en elecciones presidenciales.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los perfiles ubicados por debajo de la media nacional proponemos intervenciones orientadas a cerrar brechas estructurales. En C0 la prioridad es combatir la apatía legislativa en entornos urbanos y facilitar la credencialización juvenil en centros laborales y universitarios, fijando como meta alcanzar 49.5% en 2027. En C3, con alta presencia rural, enfocamos los esfuerzos en activar el voto de los hombres en cooperativas y rutas laborales, junto con casillas extraordinarias que reduzcan las distancias de traslado.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perfiles que superan el promedio del panel requieren estrategias de blindaje y consolidación. En C1 el desafío operativo central es asegurar el relevo generacional en las mesas directivas de casilla mediante capacitación temprana a personas insaculadas. En C2, que experimenta una fuerte movilización de votantes jóvenes, proponemos profundizar el diálogo público a través de la plataforma Conóceles y debates comunitarios, consolidando el piso de participación intermedia por encima del sesenta punto cuatro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cumplimiento de las metas cuantitativas en C0 y C3 aportaría entre 607 mil y 1.27 millones de sufragios adicionales en las elecciones intermedias de 2027. Por el contrario, un descuido en C1 y C2 pondría en riesgo casi dos millones de votos si estas comunidades retrocedieran a sus niveles históricos. La priorización territorial demuestra una alta concentración: intervenir en las treinta principales juntas distritales de cada perfil permite cubrir hasta casi la mitad de su lista nominal.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Planteamos un diseño experimental riguroso para evaluar las intervenciones en el perfil prioritario C0 durante los comicios de 2027. Seleccionamos mil secciones aleatorizadas en quinientas de tratamiento y quinientas de control, con estratificación por entidad y tercil de participación previa. Con un modelo ANCOVA ajustado por línea base detectamos impactos desde uno punto cincuenta y siete puntos porcentuales con ochenta por ciento de potencia, a costo evaluativo marginal al aprovechar la infraestructura censal ordinaria del instituto.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Concluimos con tres recomendaciones prioritarias para robustecer la gobernanza de datos del INE: primero, incorporar un indicador explícito de estatus de captura seccional para aislar registros no especificados; segundo, fortalecer los controles operativos para reducir los cuadernillos sin capturar observados desde 2018; y tercero, publicar variables sociodemográficas sobre comunidades originarias en datos abiertos. Nuestro código y modelos están plenamente documentados y son reproducibles con un solo comando.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48640"/>
            <a:ext cx="11094415" cy="201168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defRPr sz="3600" b="1">
                <a:solidFill>
                  <a:srgbClr val="FFFFFF"/>
                </a:solidFill>
                <a:latin typeface="Arial"/>
              </a:defRPr>
            </a:pPr>
            <a:r>
              <a:t>Perfiles ciudadanos de participación electoral en México, 2009–2024</a:t>
            </a:r>
          </a:p>
          <a:p>
            <a:pPr>
              <a:defRPr sz="2200">
                <a:solidFill>
                  <a:srgbClr val="E2E8F0"/>
                </a:solidFill>
                <a:latin typeface="Arial"/>
              </a:defRPr>
            </a:pPr>
            <a:r>
              <a:t>Tipología seccional y estrategias de educación cívica</a:t>
            </a:r>
          </a:p>
        </p:txBody>
      </p:sp>
      <p:sp>
        <p:nvSpPr>
          <p:cNvPr id="3" name="TextBox 2"/>
          <p:cNvSpPr txBox="1"/>
          <p:nvPr/>
        </p:nvSpPr>
        <p:spPr>
          <a:xfrm>
            <a:off x="548640" y="2788920"/>
            <a:ext cx="11094415" cy="822960"/>
          </a:xfrm>
          <a:prstGeom prst="rect">
            <a:avLst/>
          </a:prstGeom>
          <a:noFill/>
        </p:spPr>
        <p:txBody>
          <a:bodyPr wrap="square">
            <a:spAutoFit/>
          </a:bodyPr>
          <a:lstStyle/>
          <a:p>
            <a:pPr>
              <a:defRPr sz="1800" b="1">
                <a:solidFill>
                  <a:srgbClr val="1E3A8A"/>
                </a:solidFill>
                <a:latin typeface="Arial"/>
              </a:defRPr>
            </a:pPr>
            <a:r>
              <a:t>Equipo Byte me · Reto 1: Perfiles ciudadanos de participación</a:t>
            </a:r>
          </a:p>
          <a:p>
            <a:pPr>
              <a:defRPr sz="1600" i="1">
                <a:solidFill>
                  <a:srgbClr val="1F2937"/>
                </a:solidFill>
                <a:latin typeface="Arial"/>
              </a:defRPr>
            </a:pPr>
            <a:r>
              <a:t>Concurso «Hackea la participación: Datos que construyen democracia»</a:t>
            </a:r>
          </a:p>
        </p:txBody>
      </p:sp>
      <p:sp>
        <p:nvSpPr>
          <p:cNvPr id="4" name="TextBox 3"/>
          <p:cNvSpPr txBox="1"/>
          <p:nvPr/>
        </p:nvSpPr>
        <p:spPr>
          <a:xfrm>
            <a:off x="548640" y="3749039"/>
            <a:ext cx="11094415" cy="548640"/>
          </a:xfrm>
          <a:prstGeom prst="rect">
            <a:avLst/>
          </a:prstGeom>
          <a:noFill/>
        </p:spPr>
        <p:txBody>
          <a:bodyPr wrap="none">
            <a:spAutoFit/>
          </a:bodyPr>
          <a:lstStyle/>
          <a:p>
            <a:pPr>
              <a:defRPr sz="1600">
                <a:solidFill>
                  <a:srgbClr val="1F2937"/>
                </a:solidFill>
                <a:latin typeface="Arial"/>
              </a:defRPr>
            </a:pPr>
            <a:r>
              <a:t>Johanan Olivares Gutiérrez (representante) · Oscar Ariel Cuevas Martínez · Saúl Alexis Arias González</a:t>
            </a:r>
          </a:p>
        </p:txBody>
      </p:sp>
      <p:pic>
        <p:nvPicPr>
          <p:cNvPr id="5" name="Picture 4" descr="icono_c0.png"/>
          <p:cNvPicPr>
            <a:picLocks noChangeAspect="1"/>
          </p:cNvPicPr>
          <p:nvPr/>
        </p:nvPicPr>
        <p:blipFill>
          <a:blip r:embed="rId2"/>
          <a:stretch>
            <a:fillRect/>
          </a:stretch>
        </p:blipFill>
        <p:spPr>
          <a:xfrm>
            <a:off x="914400" y="4434840"/>
            <a:ext cx="1005840" cy="1005840"/>
          </a:xfrm>
          <a:prstGeom prst="rect">
            <a:avLst/>
          </a:prstGeom>
        </p:spPr>
      </p:pic>
      <p:sp>
        <p:nvSpPr>
          <p:cNvPr id="6" name="TextBox 5"/>
          <p:cNvSpPr txBox="1"/>
          <p:nvPr/>
        </p:nvSpPr>
        <p:spPr>
          <a:xfrm>
            <a:off x="548640" y="5486400"/>
            <a:ext cx="1737360" cy="365760"/>
          </a:xfrm>
          <a:prstGeom prst="rect">
            <a:avLst/>
          </a:prstGeom>
          <a:noFill/>
        </p:spPr>
        <p:txBody>
          <a:bodyPr wrap="none">
            <a:spAutoFit/>
          </a:bodyPr>
          <a:lstStyle/>
          <a:p>
            <a:pPr algn="ctr">
              <a:defRPr sz="1400" b="1">
                <a:solidFill>
                  <a:srgbClr val="C2410C"/>
                </a:solidFill>
                <a:latin typeface="Arial"/>
              </a:defRPr>
            </a:pPr>
            <a:r>
              <a:t>C0: Rezago juvenil</a:t>
            </a:r>
          </a:p>
        </p:txBody>
      </p:sp>
      <p:pic>
        <p:nvPicPr>
          <p:cNvPr id="7" name="Picture 6" descr="icono_c1.png"/>
          <p:cNvPicPr>
            <a:picLocks noChangeAspect="1"/>
          </p:cNvPicPr>
          <p:nvPr/>
        </p:nvPicPr>
        <p:blipFill>
          <a:blip r:embed="rId3"/>
          <a:stretch>
            <a:fillRect/>
          </a:stretch>
        </p:blipFill>
        <p:spPr>
          <a:xfrm>
            <a:off x="3566160" y="4434840"/>
            <a:ext cx="1005840" cy="1005840"/>
          </a:xfrm>
          <a:prstGeom prst="rect">
            <a:avLst/>
          </a:prstGeom>
        </p:spPr>
      </p:pic>
      <p:sp>
        <p:nvSpPr>
          <p:cNvPr id="8" name="TextBox 7"/>
          <p:cNvSpPr txBox="1"/>
          <p:nvPr/>
        </p:nvSpPr>
        <p:spPr>
          <a:xfrm>
            <a:off x="3200400" y="5486400"/>
            <a:ext cx="1737360" cy="365760"/>
          </a:xfrm>
          <a:prstGeom prst="rect">
            <a:avLst/>
          </a:prstGeom>
          <a:noFill/>
        </p:spPr>
        <p:txBody>
          <a:bodyPr wrap="none">
            <a:spAutoFit/>
          </a:bodyPr>
          <a:lstStyle/>
          <a:p>
            <a:pPr algn="ctr">
              <a:defRPr sz="1400" b="1">
                <a:solidFill>
                  <a:srgbClr val="047857"/>
                </a:solidFill>
                <a:latin typeface="Arial"/>
              </a:defRPr>
            </a:pPr>
            <a:r>
              <a:t>C1: Alta constancia</a:t>
            </a:r>
          </a:p>
        </p:txBody>
      </p:sp>
      <p:pic>
        <p:nvPicPr>
          <p:cNvPr id="9" name="Picture 8" descr="icono_c2.png"/>
          <p:cNvPicPr>
            <a:picLocks noChangeAspect="1"/>
          </p:cNvPicPr>
          <p:nvPr/>
        </p:nvPicPr>
        <p:blipFill>
          <a:blip r:embed="rId4"/>
          <a:stretch>
            <a:fillRect/>
          </a:stretch>
        </p:blipFill>
        <p:spPr>
          <a:xfrm>
            <a:off x="6217920" y="4434840"/>
            <a:ext cx="1005840" cy="1005840"/>
          </a:xfrm>
          <a:prstGeom prst="rect">
            <a:avLst/>
          </a:prstGeom>
        </p:spPr>
      </p:pic>
      <p:sp>
        <p:nvSpPr>
          <p:cNvPr id="10" name="TextBox 9"/>
          <p:cNvSpPr txBox="1"/>
          <p:nvPr/>
        </p:nvSpPr>
        <p:spPr>
          <a:xfrm>
            <a:off x="5852160" y="5486400"/>
            <a:ext cx="1737360" cy="365760"/>
          </a:xfrm>
          <a:prstGeom prst="rect">
            <a:avLst/>
          </a:prstGeom>
          <a:noFill/>
        </p:spPr>
        <p:txBody>
          <a:bodyPr wrap="none">
            <a:spAutoFit/>
          </a:bodyPr>
          <a:lstStyle/>
          <a:p>
            <a:pPr algn="ctr">
              <a:defRPr sz="1400" b="1">
                <a:solidFill>
                  <a:srgbClr val="1D4ED8"/>
                </a:solidFill>
                <a:latin typeface="Arial"/>
              </a:defRPr>
            </a:pPr>
            <a:r>
              <a:t>C2: Ascenso cívico</a:t>
            </a:r>
          </a:p>
        </p:txBody>
      </p:sp>
      <p:pic>
        <p:nvPicPr>
          <p:cNvPr id="11" name="Picture 10" descr="icono_c3.png"/>
          <p:cNvPicPr>
            <a:picLocks noChangeAspect="1"/>
          </p:cNvPicPr>
          <p:nvPr/>
        </p:nvPicPr>
        <p:blipFill>
          <a:blip r:embed="rId5"/>
          <a:stretch>
            <a:fillRect/>
          </a:stretch>
        </p:blipFill>
        <p:spPr>
          <a:xfrm>
            <a:off x="8869680" y="4434840"/>
            <a:ext cx="1005840" cy="1005840"/>
          </a:xfrm>
          <a:prstGeom prst="rect">
            <a:avLst/>
          </a:prstGeom>
        </p:spPr>
      </p:pic>
      <p:sp>
        <p:nvSpPr>
          <p:cNvPr id="12" name="TextBox 11"/>
          <p:cNvSpPr txBox="1"/>
          <p:nvPr/>
        </p:nvSpPr>
        <p:spPr>
          <a:xfrm>
            <a:off x="8503920" y="5486400"/>
            <a:ext cx="1737360" cy="365760"/>
          </a:xfrm>
          <a:prstGeom prst="rect">
            <a:avLst/>
          </a:prstGeom>
          <a:noFill/>
        </p:spPr>
        <p:txBody>
          <a:bodyPr wrap="none">
            <a:spAutoFit/>
          </a:bodyPr>
          <a:lstStyle/>
          <a:p>
            <a:pPr algn="ctr">
              <a:defRPr sz="1400" b="1">
                <a:solidFill>
                  <a:srgbClr val="6D28D9"/>
                </a:solidFill>
                <a:latin typeface="Arial"/>
              </a:defRPr>
            </a:pPr>
            <a:r>
              <a:t>C3: Liderazgo femenino</a:t>
            </a:r>
          </a:p>
        </p:txBody>
      </p:sp>
      <p:sp>
        <p:nvSpPr>
          <p:cNvPr id="13" name="TextBox 12"/>
          <p:cNvSpPr txBox="1"/>
          <p:nvPr/>
        </p:nvSpPr>
        <p:spPr>
          <a:xfrm>
            <a:off x="548640" y="5989320"/>
            <a:ext cx="11094415" cy="365760"/>
          </a:xfrm>
          <a:prstGeom prst="rect">
            <a:avLst/>
          </a:prstGeom>
          <a:noFill/>
        </p:spPr>
        <p:txBody>
          <a:bodyPr wrap="none">
            <a:spAutoFit/>
          </a:bodyPr>
          <a:lstStyle/>
          <a:p>
            <a:pPr algn="ctr">
              <a:defRPr sz="1400" b="1">
                <a:solidFill>
                  <a:srgbClr val="1E3A8A"/>
                </a:solidFill>
                <a:latin typeface="Arial"/>
              </a:defRPr>
            </a:pPr>
            <a:r>
              <a:t>github.com/Johanan1113/Hackaton_INE_byte_me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Medir bien cambia el diagnóstico: la fórmula correcta recupera hasta 4.27 puntos</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2</a:t>
            </a:r>
          </a:p>
        </p:txBody>
      </p:sp>
      <p:sp>
        <p:nvSpPr>
          <p:cNvPr id="6" name="Rounded Rectangle 5"/>
          <p:cNvSpPr/>
          <p:nvPr/>
        </p:nvSpPr>
        <p:spPr>
          <a:xfrm>
            <a:off x="548640" y="1554480"/>
            <a:ext cx="2834640" cy="4663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400" b="1">
                <a:solidFill>
                  <a:srgbClr val="1E3A8A"/>
                </a:solidFill>
                <a:latin typeface="Arial"/>
              </a:defRPr>
            </a:pPr>
            <a:r>
              <a:t>−4.27 pts</a:t>
            </a:r>
          </a:p>
          <a:p>
            <a:br/>
            <a:pPr>
              <a:defRPr sz="1600">
                <a:solidFill>
                  <a:srgbClr val="1F2937"/>
                </a:solidFill>
                <a:latin typeface="Arial"/>
              </a:defRPr>
            </a:pPr>
            <a:r>
              <a:t>subestimación de la participación nacional en 2018 al dividir entre la lista nominal (−3.84 pts en 2024).</a:t>
            </a:r>
          </a:p>
        </p:txBody>
      </p:sp>
      <p:sp>
        <p:nvSpPr>
          <p:cNvPr id="7" name="Rounded Rectangle 6"/>
          <p:cNvSpPr/>
          <p:nvPr/>
        </p:nvSpPr>
        <p:spPr>
          <a:xfrm>
            <a:off x="3474720" y="1554480"/>
            <a:ext cx="3200400" cy="777240"/>
          </a:xfrm>
          <a:prstGeom prst="roundRect">
            <a:avLst/>
          </a:prstGeom>
          <a:solidFill>
            <a:srgbClr val="F3F4F6"/>
          </a:solidFill>
          <a:ln>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6B7280"/>
                </a:solidFill>
                <a:latin typeface="Arial"/>
              </a:defRPr>
            </a:pPr>
            <a:r>
              <a:t>Incorrecta: SV / LN</a:t>
            </a:r>
          </a:p>
        </p:txBody>
      </p:sp>
      <p:sp>
        <p:nvSpPr>
          <p:cNvPr id="8" name="Rounded Rectangle 7"/>
          <p:cNvSpPr/>
          <p:nvPr/>
        </p:nvSpPr>
        <p:spPr>
          <a:xfrm>
            <a:off x="3474720" y="2468880"/>
            <a:ext cx="3200400" cy="77724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E3A8A"/>
                </a:solidFill>
                <a:latin typeface="Arial"/>
              </a:defRPr>
            </a:pPr>
            <a:r>
              <a:t>Correcta (Manual CCPC): SV / (SV + NV)</a:t>
            </a:r>
          </a:p>
        </p:txBody>
      </p:sp>
      <p:sp>
        <p:nvSpPr>
          <p:cNvPr id="9" name="TextBox 8"/>
          <p:cNvSpPr txBox="1"/>
          <p:nvPr/>
        </p:nvSpPr>
        <p:spPr>
          <a:xfrm>
            <a:off x="3474720" y="3383280"/>
            <a:ext cx="3200400" cy="2834640"/>
          </a:xfrm>
          <a:prstGeom prst="rect">
            <a:avLst/>
          </a:prstGeom>
          <a:noFill/>
        </p:spPr>
        <p:txBody>
          <a:bodyPr wrap="square" lIns="0" rIns="0">
            <a:spAutoFit/>
          </a:bodyPr>
          <a:lstStyle/>
          <a:p>
            <a:pPr>
              <a:defRPr sz="1500">
                <a:solidFill>
                  <a:srgbClr val="1F2937"/>
                </a:solidFill>
                <a:latin typeface="Arial"/>
              </a:defRPr>
            </a:pPr>
            <a:r>
              <a:t>En 2018 y 2024, el 6.8% y el 6.4% de la lista nominal son registros no especificados (NS): cuadernillos sin marcas, no disponibles para captura o con páginas faltantes. Contarlos como abstención crea grupos artificiales de baja participación.</a:t>
            </a:r>
          </a:p>
        </p:txBody>
      </p:sp>
      <p:graphicFrame>
        <p:nvGraphicFramePr>
          <p:cNvPr id="10" name="Chart 9"/>
          <p:cNvGraphicFramePr>
            <a:graphicFrameLocks noGrp="1"/>
          </p:cNvGraphicFramePr>
          <p:nvPr/>
        </p:nvGraphicFramePr>
        <p:xfrm>
          <a:off x="6858000" y="1554480"/>
          <a:ext cx="4754880" cy="4663440"/>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Nuestra serie reproduce las cifras censales del INE</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3</a:t>
            </a:r>
          </a:p>
        </p:txBody>
      </p:sp>
      <p:graphicFrame>
        <p:nvGraphicFramePr>
          <p:cNvPr id="6" name="Table 5"/>
          <p:cNvGraphicFramePr>
            <a:graphicFrameLocks noGrp="1"/>
          </p:cNvGraphicFramePr>
          <p:nvPr/>
        </p:nvGraphicFramePr>
        <p:xfrm>
          <a:off x="548640" y="1554480"/>
          <a:ext cx="5943600" cy="3931920"/>
        </p:xfrm>
        <a:graphic>
          <a:graphicData uri="http://schemas.openxmlformats.org/drawingml/2006/table">
            <a:tbl>
              <a:tblPr firstRow="1" bandRow="1">
                <a:tableStyleId>{5C22544A-7EE6-4342-B048-85BDC9FD1C3A}</a:tableStyleId>
              </a:tblPr>
              <a:tblGrid>
                <a:gridCol w="1463040"/>
                <a:gridCol w="2194560"/>
                <a:gridCol w="2286000"/>
              </a:tblGrid>
              <a:tr h="561702">
                <a:tc>
                  <a:txBody>
                    <a:bodyPr/>
                    <a:lstStyle/>
                    <a:p>
                      <a:pPr algn="ctr">
                        <a:defRPr sz="1500" b="1">
                          <a:solidFill>
                            <a:srgbClr val="FFFFFF"/>
                          </a:solidFill>
                          <a:latin typeface="Arial"/>
                        </a:defRPr>
                      </a:pPr>
                      <a:r>
                        <a:t>Año</a:t>
                      </a:r>
                    </a:p>
                  </a:txBody>
                  <a:tcPr anchor="ctr">
                    <a:solidFill>
                      <a:srgbClr val="1E3A8A"/>
                    </a:solidFill>
                  </a:tcPr>
                </a:tc>
                <a:tc>
                  <a:txBody>
                    <a:bodyPr/>
                    <a:lstStyle/>
                    <a:p>
                      <a:pPr algn="ctr">
                        <a:defRPr sz="1500" b="1">
                          <a:solidFill>
                            <a:srgbClr val="FFFFFF"/>
                          </a:solidFill>
                          <a:latin typeface="Arial"/>
                        </a:defRPr>
                      </a:pPr>
                      <a:r>
                        <a:t>Cálculo CCPC</a:t>
                      </a:r>
                    </a:p>
                  </a:txBody>
                  <a:tcPr anchor="ctr">
                    <a:solidFill>
                      <a:srgbClr val="1E3A8A"/>
                    </a:solidFill>
                  </a:tcPr>
                </a:tc>
                <a:tc>
                  <a:txBody>
                    <a:bodyPr/>
                    <a:lstStyle/>
                    <a:p>
                      <a:pPr algn="ctr">
                        <a:defRPr sz="1500" b="1">
                          <a:solidFill>
                            <a:srgbClr val="FFFFFF"/>
                          </a:solidFill>
                          <a:latin typeface="Arial"/>
                        </a:defRPr>
                      </a:pPr>
                      <a:r>
                        <a:t>Dato censal INE</a:t>
                      </a:r>
                    </a:p>
                  </a:txBody>
                  <a:tcPr anchor="ctr">
                    <a:solidFill>
                      <a:srgbClr val="1E3A8A"/>
                    </a:solidFill>
                  </a:tcPr>
                </a:tc>
              </a:tr>
              <a:tr h="561702">
                <a:tc>
                  <a:txBody>
                    <a:bodyPr/>
                    <a:lstStyle/>
                    <a:p>
                      <a:pPr algn="ctr">
                        <a:defRPr sz="1400">
                          <a:solidFill>
                            <a:srgbClr val="1F2937"/>
                          </a:solidFill>
                          <a:latin typeface="Arial"/>
                        </a:defRPr>
                      </a:pPr>
                      <a:r>
                        <a:t>2009</a:t>
                      </a:r>
                    </a:p>
                  </a:txBody>
                  <a:tcPr anchor="ctr">
                    <a:solidFill>
                      <a:srgbClr val="F8FAFC"/>
                    </a:solidFill>
                  </a:tcPr>
                </a:tc>
                <a:tc>
                  <a:txBody>
                    <a:bodyPr/>
                    <a:lstStyle/>
                    <a:p>
                      <a:pPr algn="ctr">
                        <a:defRPr sz="1400">
                          <a:solidFill>
                            <a:srgbClr val="1F2937"/>
                          </a:solidFill>
                          <a:latin typeface="Arial"/>
                        </a:defRPr>
                      </a:pPr>
                      <a:r>
                        <a:t>44.06%</a:t>
                      </a:r>
                    </a:p>
                  </a:txBody>
                  <a:tcPr anchor="ctr">
                    <a:solidFill>
                      <a:srgbClr val="F8FAFC"/>
                    </a:solidFill>
                  </a:tcPr>
                </a:tc>
                <a:tc>
                  <a:txBody>
                    <a:bodyPr/>
                    <a:lstStyle/>
                    <a:p>
                      <a:pPr algn="ctr">
                        <a:defRPr sz="1400">
                          <a:solidFill>
                            <a:srgbClr val="1F2937"/>
                          </a:solidFill>
                          <a:latin typeface="Arial"/>
                        </a:defRPr>
                      </a:pPr>
                      <a:r>
                        <a:t>44.06%</a:t>
                      </a:r>
                    </a:p>
                  </a:txBody>
                  <a:tcPr anchor="ctr">
                    <a:solidFill>
                      <a:srgbClr val="F8FAFC"/>
                    </a:solidFill>
                  </a:tcPr>
                </a:tc>
              </a:tr>
              <a:tr h="561702">
                <a:tc>
                  <a:txBody>
                    <a:bodyPr/>
                    <a:lstStyle/>
                    <a:p>
                      <a:pPr algn="ctr">
                        <a:defRPr sz="1400">
                          <a:solidFill>
                            <a:srgbClr val="1F2937"/>
                          </a:solidFill>
                          <a:latin typeface="Arial"/>
                        </a:defRPr>
                      </a:pPr>
                      <a:r>
                        <a:t>2012</a:t>
                      </a:r>
                    </a:p>
                  </a:txBody>
                  <a:tcPr anchor="ctr">
                    <a:solidFill>
                      <a:srgbClr val="FFFFFF"/>
                    </a:solidFill>
                  </a:tcPr>
                </a:tc>
                <a:tc>
                  <a:txBody>
                    <a:bodyPr/>
                    <a:lstStyle/>
                    <a:p>
                      <a:pPr algn="ctr">
                        <a:defRPr sz="1400">
                          <a:solidFill>
                            <a:srgbClr val="1F2937"/>
                          </a:solidFill>
                          <a:latin typeface="Arial"/>
                        </a:defRPr>
                      </a:pPr>
                      <a:r>
                        <a:t>62.08%</a:t>
                      </a:r>
                    </a:p>
                  </a:txBody>
                  <a:tcPr anchor="ctr">
                    <a:solidFill>
                      <a:srgbClr val="FFFFFF"/>
                    </a:solidFill>
                  </a:tcPr>
                </a:tc>
                <a:tc>
                  <a:txBody>
                    <a:bodyPr/>
                    <a:lstStyle/>
                    <a:p>
                      <a:pPr algn="ctr">
                        <a:defRPr sz="1400">
                          <a:solidFill>
                            <a:srgbClr val="1F2937"/>
                          </a:solidFill>
                          <a:latin typeface="Arial"/>
                        </a:defRPr>
                      </a:pPr>
                      <a:r>
                        <a:t>62.08%</a:t>
                      </a:r>
                    </a:p>
                  </a:txBody>
                  <a:tcPr anchor="ctr">
                    <a:solidFill>
                      <a:srgbClr val="FFFFFF"/>
                    </a:solidFill>
                  </a:tcPr>
                </a:tc>
              </a:tr>
              <a:tr h="561702">
                <a:tc>
                  <a:txBody>
                    <a:bodyPr/>
                    <a:lstStyle/>
                    <a:p>
                      <a:pPr algn="ctr">
                        <a:defRPr sz="1400">
                          <a:solidFill>
                            <a:srgbClr val="1F2937"/>
                          </a:solidFill>
                          <a:latin typeface="Arial"/>
                        </a:defRPr>
                      </a:pPr>
                      <a:r>
                        <a:t>2015</a:t>
                      </a:r>
                    </a:p>
                  </a:txBody>
                  <a:tcPr anchor="ctr">
                    <a:solidFill>
                      <a:srgbClr val="F8FAFC"/>
                    </a:solidFill>
                  </a:tcPr>
                </a:tc>
                <a:tc>
                  <a:txBody>
                    <a:bodyPr/>
                    <a:lstStyle/>
                    <a:p>
                      <a:pPr algn="ctr">
                        <a:defRPr sz="1400">
                          <a:solidFill>
                            <a:srgbClr val="1F2937"/>
                          </a:solidFill>
                          <a:latin typeface="Arial"/>
                        </a:defRPr>
                      </a:pPr>
                      <a:r>
                        <a:t>47.07%</a:t>
                      </a:r>
                    </a:p>
                  </a:txBody>
                  <a:tcPr anchor="ctr">
                    <a:solidFill>
                      <a:srgbClr val="F8FAFC"/>
                    </a:solidFill>
                  </a:tcPr>
                </a:tc>
                <a:tc>
                  <a:txBody>
                    <a:bodyPr/>
                    <a:lstStyle/>
                    <a:p>
                      <a:pPr algn="ctr">
                        <a:defRPr sz="1400">
                          <a:solidFill>
                            <a:srgbClr val="1F2937"/>
                          </a:solidFill>
                          <a:latin typeface="Arial"/>
                        </a:defRPr>
                      </a:pPr>
                      <a:r>
                        <a:t>47.07%</a:t>
                      </a:r>
                    </a:p>
                  </a:txBody>
                  <a:tcPr anchor="ctr">
                    <a:solidFill>
                      <a:srgbClr val="F8FAFC"/>
                    </a:solidFill>
                  </a:tcPr>
                </a:tc>
              </a:tr>
              <a:tr h="561702">
                <a:tc>
                  <a:txBody>
                    <a:bodyPr/>
                    <a:lstStyle/>
                    <a:p>
                      <a:pPr algn="ctr">
                        <a:defRPr sz="1400">
                          <a:solidFill>
                            <a:srgbClr val="1F2937"/>
                          </a:solidFill>
                          <a:latin typeface="Arial"/>
                        </a:defRPr>
                      </a:pPr>
                      <a:r>
                        <a:t>2018</a:t>
                      </a:r>
                    </a:p>
                  </a:txBody>
                  <a:tcPr anchor="ctr">
                    <a:solidFill>
                      <a:srgbClr val="FFFFFF"/>
                    </a:solidFill>
                  </a:tcPr>
                </a:tc>
                <a:tc>
                  <a:txBody>
                    <a:bodyPr/>
                    <a:lstStyle/>
                    <a:p>
                      <a:pPr algn="ctr">
                        <a:defRPr sz="1400">
                          <a:solidFill>
                            <a:srgbClr val="1F2937"/>
                          </a:solidFill>
                          <a:latin typeface="Arial"/>
                        </a:defRPr>
                      </a:pPr>
                      <a:r>
                        <a:t>62.37%</a:t>
                      </a:r>
                    </a:p>
                  </a:txBody>
                  <a:tcPr anchor="ctr">
                    <a:solidFill>
                      <a:srgbClr val="FFFFFF"/>
                    </a:solidFill>
                  </a:tcPr>
                </a:tc>
                <a:tc>
                  <a:txBody>
                    <a:bodyPr/>
                    <a:lstStyle/>
                    <a:p>
                      <a:pPr algn="ctr">
                        <a:defRPr sz="1400">
                          <a:solidFill>
                            <a:srgbClr val="1F2937"/>
                          </a:solidFill>
                          <a:latin typeface="Arial"/>
                        </a:defRPr>
                      </a:pPr>
                      <a:r>
                        <a:t>62.4%</a:t>
                      </a:r>
                    </a:p>
                  </a:txBody>
                  <a:tcPr anchor="ctr">
                    <a:solidFill>
                      <a:srgbClr val="FFFFFF"/>
                    </a:solidFill>
                  </a:tcPr>
                </a:tc>
              </a:tr>
              <a:tr h="561702">
                <a:tc>
                  <a:txBody>
                    <a:bodyPr/>
                    <a:lstStyle/>
                    <a:p>
                      <a:pPr algn="ctr">
                        <a:defRPr sz="1400">
                          <a:solidFill>
                            <a:srgbClr val="1F2937"/>
                          </a:solidFill>
                          <a:latin typeface="Arial"/>
                        </a:defRPr>
                      </a:pPr>
                      <a:r>
                        <a:t>2021</a:t>
                      </a:r>
                    </a:p>
                  </a:txBody>
                  <a:tcPr anchor="ctr">
                    <a:solidFill>
                      <a:srgbClr val="F8FAFC"/>
                    </a:solidFill>
                  </a:tcPr>
                </a:tc>
                <a:tc>
                  <a:txBody>
                    <a:bodyPr/>
                    <a:lstStyle/>
                    <a:p>
                      <a:pPr algn="ctr">
                        <a:defRPr sz="1400">
                          <a:solidFill>
                            <a:srgbClr val="1F2937"/>
                          </a:solidFill>
                          <a:latin typeface="Arial"/>
                        </a:defRPr>
                      </a:pPr>
                      <a:r>
                        <a:t>51.84%</a:t>
                      </a:r>
                    </a:p>
                  </a:txBody>
                  <a:tcPr anchor="ctr">
                    <a:solidFill>
                      <a:srgbClr val="F8FAFC"/>
                    </a:solidFill>
                  </a:tcPr>
                </a:tc>
                <a:tc>
                  <a:txBody>
                    <a:bodyPr/>
                    <a:lstStyle/>
                    <a:p>
                      <a:pPr algn="ctr">
                        <a:defRPr sz="1400">
                          <a:solidFill>
                            <a:srgbClr val="1F2937"/>
                          </a:solidFill>
                          <a:latin typeface="Arial"/>
                        </a:defRPr>
                      </a:pPr>
                      <a:r>
                        <a:t>51.8%</a:t>
                      </a:r>
                    </a:p>
                  </a:txBody>
                  <a:tcPr anchor="ctr">
                    <a:solidFill>
                      <a:srgbClr val="F8FAFC"/>
                    </a:solidFill>
                  </a:tcPr>
                </a:tc>
              </a:tr>
              <a:tr h="561708">
                <a:tc>
                  <a:txBody>
                    <a:bodyPr/>
                    <a:lstStyle/>
                    <a:p>
                      <a:pPr algn="ctr">
                        <a:defRPr sz="1400">
                          <a:solidFill>
                            <a:srgbClr val="1F2937"/>
                          </a:solidFill>
                          <a:latin typeface="Arial"/>
                        </a:defRPr>
                      </a:pPr>
                      <a:r>
                        <a:t>2024</a:t>
                      </a:r>
                    </a:p>
                  </a:txBody>
                  <a:tcPr anchor="ctr">
                    <a:solidFill>
                      <a:srgbClr val="FFFFFF"/>
                    </a:solidFill>
                  </a:tcPr>
                </a:tc>
                <a:tc>
                  <a:txBody>
                    <a:bodyPr/>
                    <a:lstStyle/>
                    <a:p>
                      <a:pPr algn="ctr">
                        <a:defRPr sz="1400">
                          <a:solidFill>
                            <a:srgbClr val="1F2937"/>
                          </a:solidFill>
                          <a:latin typeface="Arial"/>
                        </a:defRPr>
                      </a:pPr>
                      <a:r>
                        <a:t>59.67%</a:t>
                      </a:r>
                    </a:p>
                  </a:txBody>
                  <a:tcPr anchor="ctr">
                    <a:solidFill>
                      <a:srgbClr val="FFFFFF"/>
                    </a:solidFill>
                  </a:tcPr>
                </a:tc>
                <a:tc>
                  <a:txBody>
                    <a:bodyPr/>
                    <a:lstStyle/>
                    <a:p>
                      <a:pPr algn="ctr">
                        <a:defRPr sz="1400">
                          <a:solidFill>
                            <a:srgbClr val="1F2937"/>
                          </a:solidFill>
                          <a:latin typeface="Arial"/>
                        </a:defRPr>
                      </a:pPr>
                      <a:r>
                        <a:t>59.7%</a:t>
                      </a:r>
                    </a:p>
                  </a:txBody>
                  <a:tcPr anchor="ctr">
                    <a:solidFill>
                      <a:srgbClr val="FFFFFF"/>
                    </a:solidFill>
                  </a:tcPr>
                </a:tc>
              </a:tr>
            </a:tbl>
          </a:graphicData>
        </a:graphic>
      </p:graphicFrame>
      <p:sp>
        <p:nvSpPr>
          <p:cNvPr id="7" name="TextBox 6"/>
          <p:cNvSpPr txBox="1"/>
          <p:nvPr/>
        </p:nvSpPr>
        <p:spPr>
          <a:xfrm>
            <a:off x="548640" y="5623560"/>
            <a:ext cx="5943600" cy="457200"/>
          </a:xfrm>
          <a:prstGeom prst="rect">
            <a:avLst/>
          </a:prstGeom>
          <a:noFill/>
        </p:spPr>
        <p:txBody>
          <a:bodyPr wrap="none">
            <a:spAutoFit/>
          </a:bodyPr>
          <a:lstStyle/>
          <a:p>
            <a:pPr>
              <a:defRPr sz="1100" i="1">
                <a:solidFill>
                  <a:srgbClr val="6B7280"/>
                </a:solidFill>
                <a:latin typeface="Arial"/>
              </a:defRPr>
            </a:pPr>
            <a:r>
              <a:t>Fuentes: DECEyEC, estudio comparativo 2009–2015; Manual de Conteos Censales 2009–2024 (p. 21).</a:t>
            </a:r>
          </a:p>
        </p:txBody>
      </p:sp>
      <p:sp>
        <p:nvSpPr>
          <p:cNvPr id="8" name="Rounded Rectangle 7"/>
          <p:cNvSpPr/>
          <p:nvPr/>
        </p:nvSpPr>
        <p:spPr>
          <a:xfrm>
            <a:off x="6858000" y="1554480"/>
            <a:ext cx="4754880" cy="13258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1E3A8A"/>
                </a:solidFill>
                <a:latin typeface="Arial"/>
              </a:defRPr>
            </a:pPr>
            <a:r>
              <a:t>53,644</a:t>
            </a:r>
          </a:p>
          <a:p>
            <a:pPr>
              <a:defRPr sz="1600">
                <a:solidFill>
                  <a:srgbClr val="1F2937"/>
                </a:solidFill>
                <a:latin typeface="Arial"/>
              </a:defRPr>
            </a:pPr>
            <a:r>
              <a:t>secciones con serie completa 2009–2024</a:t>
            </a:r>
          </a:p>
        </p:txBody>
      </p:sp>
      <p:sp>
        <p:nvSpPr>
          <p:cNvPr id="9" name="Rounded Rectangle 8"/>
          <p:cNvSpPr/>
          <p:nvPr/>
        </p:nvSpPr>
        <p:spPr>
          <a:xfrm>
            <a:off x="6858000" y="3063239"/>
            <a:ext cx="4754880" cy="13258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1E3A8A"/>
                </a:solidFill>
                <a:latin typeface="Arial"/>
              </a:defRPr>
            </a:pPr>
            <a:r>
              <a:t>79.5%</a:t>
            </a:r>
          </a:p>
          <a:p>
            <a:pPr>
              <a:defRPr sz="1600">
                <a:solidFill>
                  <a:srgbClr val="1F2937"/>
                </a:solidFill>
                <a:latin typeface="Arial"/>
              </a:defRPr>
            </a:pPr>
            <a:r>
              <a:t>de la lista nominal 2024 en el modelo</a:t>
            </a:r>
          </a:p>
        </p:txBody>
      </p:sp>
      <p:sp>
        <p:nvSpPr>
          <p:cNvPr id="10" name="Rounded Rectangle 9"/>
          <p:cNvSpPr/>
          <p:nvPr/>
        </p:nvSpPr>
        <p:spPr>
          <a:xfrm>
            <a:off x="6858000" y="4572000"/>
            <a:ext cx="4754880" cy="13258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047857"/>
                </a:solidFill>
                <a:latin typeface="Arial"/>
              </a:defRPr>
            </a:pPr>
            <a:r>
              <a:t>91.5%</a:t>
            </a:r>
          </a:p>
          <a:p>
            <a:pPr>
              <a:defRPr sz="1600">
                <a:solidFill>
                  <a:srgbClr val="1F2937"/>
                </a:solidFill>
                <a:latin typeface="Arial"/>
              </a:defRPr>
            </a:pPr>
            <a:r>
              <a:t>de la lista nominal con perfil asignado para operar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Cuatro perfiles con un método reproducible y validado</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4</a:t>
            </a:r>
          </a:p>
        </p:txBody>
      </p:sp>
      <p:sp>
        <p:nvSpPr>
          <p:cNvPr id="6" name="Rounded Rectangle 5"/>
          <p:cNvSpPr/>
          <p:nvPr/>
        </p:nvSpPr>
        <p:spPr>
          <a:xfrm>
            <a:off x="548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Datos CCPC 2009–2024</a:t>
            </a:r>
            <a:br/>
            <a:r>
              <a:t>6 elecciones federales</a:t>
            </a:r>
          </a:p>
        </p:txBody>
      </p:sp>
      <p:sp>
        <p:nvSpPr>
          <p:cNvPr id="7" name="Right Arrow 6"/>
          <p:cNvSpPr/>
          <p:nvPr/>
        </p:nvSpPr>
        <p:spPr>
          <a:xfrm>
            <a:off x="2542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Corrección SV/(SV+NV)</a:t>
            </a:r>
            <a:br/>
            <a:r>
              <a:t>y depuración sin imputar</a:t>
            </a:r>
          </a:p>
        </p:txBody>
      </p:sp>
      <p:sp>
        <p:nvSpPr>
          <p:cNvPr id="9" name="Right Arrow 8"/>
          <p:cNvSpPr/>
          <p:nvPr/>
        </p:nvSpPr>
        <p:spPr>
          <a:xfrm>
            <a:off x="4828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20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7 indicadores</a:t>
            </a:r>
            <a:br/>
            <a:r>
              <a:t>por sección</a:t>
            </a:r>
          </a:p>
        </p:txBody>
      </p:sp>
      <p:sp>
        <p:nvSpPr>
          <p:cNvPr id="11" name="Right Arrow 10"/>
          <p:cNvSpPr/>
          <p:nvPr/>
        </p:nvSpPr>
        <p:spPr>
          <a:xfrm>
            <a:off x="7114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06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K-Means++</a:t>
            </a:r>
            <a:br/>
            <a:r>
              <a:t>con k = 4</a:t>
            </a:r>
          </a:p>
        </p:txBody>
      </p:sp>
      <p:sp>
        <p:nvSpPr>
          <p:cNvPr id="13" name="Right Arrow 12"/>
          <p:cNvSpPr/>
          <p:nvPr/>
        </p:nvSpPr>
        <p:spPr>
          <a:xfrm>
            <a:off x="9400032" y="192024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92640" y="1554480"/>
            <a:ext cx="1920240" cy="109728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latin typeface="Arial"/>
              </a:defRPr>
            </a:pPr>
            <a:r>
              <a:t>Validación</a:t>
            </a:r>
            <a:br/>
            <a:r>
              <a:t>y solidez</a:t>
            </a:r>
          </a:p>
        </p:txBody>
      </p:sp>
      <p:sp>
        <p:nvSpPr>
          <p:cNvPr id="15" name="Rounded Rectangle 14"/>
          <p:cNvSpPr/>
          <p:nvPr/>
        </p:nvSpPr>
        <p:spPr>
          <a:xfrm>
            <a:off x="548640" y="2971800"/>
            <a:ext cx="5303520" cy="30175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800" b="1">
                <a:solidFill>
                  <a:srgbClr val="1E3A8A"/>
                </a:solidFill>
                <a:latin typeface="Arial"/>
              </a:defRPr>
            </a:pPr>
            <a:r>
              <a:t>Indicadores</a:t>
            </a:r>
          </a:p>
          <a:p>
            <a:pPr>
              <a:defRPr sz="1400">
                <a:solidFill>
                  <a:srgbClr val="1F2937"/>
                </a:solidFill>
                <a:latin typeface="Arial"/>
              </a:defRPr>
            </a:pPr>
            <a:r>
              <a:t>• Participación media histórica</a:t>
            </a:r>
          </a:p>
          <a:p>
            <a:pPr>
              <a:defRPr sz="1400">
                <a:solidFill>
                  <a:srgbClr val="1F2937"/>
                </a:solidFill>
                <a:latin typeface="Arial"/>
              </a:defRPr>
            </a:pPr>
            <a:r>
              <a:t>• Brecha presidencial–intermedia</a:t>
            </a:r>
          </a:p>
          <a:p>
            <a:pPr>
              <a:defRPr sz="1400">
                <a:solidFill>
                  <a:srgbClr val="1F2937"/>
                </a:solidFill>
                <a:latin typeface="Arial"/>
              </a:defRPr>
            </a:pPr>
            <a:r>
              <a:t>• Tendencia anual de participación</a:t>
            </a:r>
          </a:p>
          <a:p>
            <a:pPr>
              <a:defRPr sz="1400">
                <a:solidFill>
                  <a:srgbClr val="1F2937"/>
                </a:solidFill>
                <a:latin typeface="Arial"/>
              </a:defRPr>
            </a:pPr>
            <a:r>
              <a:t>• Estabilidad en la participación</a:t>
            </a:r>
          </a:p>
          <a:p>
            <a:pPr>
              <a:defRPr sz="1400">
                <a:solidFill>
                  <a:srgbClr val="1F2937"/>
                </a:solidFill>
                <a:latin typeface="Arial"/>
              </a:defRPr>
            </a:pPr>
            <a:r>
              <a:t>• Brecha generacional (jóvenes vs. mayores)</a:t>
            </a:r>
          </a:p>
          <a:p>
            <a:pPr>
              <a:defRPr sz="1400">
                <a:solidFill>
                  <a:srgbClr val="1F2937"/>
                </a:solidFill>
                <a:latin typeface="Arial"/>
              </a:defRPr>
            </a:pPr>
            <a:r>
              <a:t>• Brecha de género (mujeres vs. hombres)</a:t>
            </a:r>
          </a:p>
          <a:p>
            <a:pPr>
              <a:defRPr sz="1400">
                <a:solidFill>
                  <a:srgbClr val="1F2937"/>
                </a:solidFill>
                <a:latin typeface="Arial"/>
              </a:defRPr>
            </a:pPr>
            <a:r>
              <a:t>• Razón de participación juvenil</a:t>
            </a:r>
          </a:p>
        </p:txBody>
      </p:sp>
      <p:sp>
        <p:nvSpPr>
          <p:cNvPr id="16" name="Rounded Rectangle 15"/>
          <p:cNvSpPr/>
          <p:nvPr/>
        </p:nvSpPr>
        <p:spPr>
          <a:xfrm>
            <a:off x="6217920" y="2971800"/>
            <a:ext cx="5394960" cy="301752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800" b="1">
                <a:solidFill>
                  <a:srgbClr val="1E3A8A"/>
                </a:solidFill>
                <a:latin typeface="Arial"/>
              </a:defRPr>
            </a:pPr>
            <a:r>
              <a:t>Validación</a:t>
            </a:r>
          </a:p>
          <a:p>
            <a:pPr>
              <a:defRPr sz="1400">
                <a:solidFill>
                  <a:srgbClr val="1F2937"/>
                </a:solidFill>
                <a:latin typeface="Arial"/>
              </a:defRPr>
            </a:pPr>
            <a:r>
              <a:t>• Silhouette 0.179: el mejor en el rango 4–6</a:t>
            </a:r>
          </a:p>
          <a:p>
            <a:pPr>
              <a:defRPr sz="1400">
                <a:solidFill>
                  <a:srgbClr val="1F2937"/>
                </a:solidFill>
                <a:latin typeface="Arial"/>
              </a:defRPr>
            </a:pPr>
            <a:r>
              <a:t>• Estabilidad bootstrap: ARI 0.957</a:t>
            </a:r>
          </a:p>
          <a:p>
            <a:pPr>
              <a:defRPr sz="1400">
                <a:solidFill>
                  <a:srgbClr val="1F2937"/>
                </a:solidFill>
                <a:latin typeface="Arial"/>
              </a:defRPr>
            </a:pPr>
            <a:r>
              <a:t>• 83.7% de las secciones conserva su perfil sin datos de 2024</a:t>
            </a:r>
          </a:p>
          <a:p>
            <a:pPr>
              <a:defRPr sz="1400">
                <a:solidFill>
                  <a:srgbClr val="1F2937"/>
                </a:solidFill>
                <a:latin typeface="Arial"/>
              </a:defRPr>
            </a:pPr>
            <a:r>
              <a:t>• Aporta ΔR² = 0.097 sobre el nivel histórico</a:t>
            </a:r>
          </a:p>
        </p:txBody>
      </p:sp>
      <p:sp>
        <p:nvSpPr>
          <p:cNvPr id="17" name="TextBox 16"/>
          <p:cNvSpPr txBox="1"/>
          <p:nvPr/>
        </p:nvSpPr>
        <p:spPr>
          <a:xfrm>
            <a:off x="548640" y="6080760"/>
            <a:ext cx="11094415" cy="365760"/>
          </a:xfrm>
          <a:prstGeom prst="rect">
            <a:avLst/>
          </a:prstGeom>
          <a:noFill/>
        </p:spPr>
        <p:txBody>
          <a:bodyPr wrap="none">
            <a:spAutoFit/>
          </a:bodyPr>
          <a:lstStyle/>
          <a:p>
            <a:pPr>
              <a:defRPr sz="1200" i="1">
                <a:solidFill>
                  <a:srgbClr val="6B7280"/>
                </a:solidFill>
                <a:latin typeface="Arial"/>
              </a:defRPr>
            </a:pPr>
            <a:r>
              <a:t>Las secciones forman un continuo: los perfiles son una segmentación operativa, no grupos naturales.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Cuatro perfiles, cuatro dinámicas de participación</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5</a:t>
            </a:r>
          </a:p>
        </p:txBody>
      </p:sp>
      <p:graphicFrame>
        <p:nvGraphicFramePr>
          <p:cNvPr id="6" name="Chart 5"/>
          <p:cNvGraphicFramePr>
            <a:graphicFrameLocks noGrp="1"/>
          </p:cNvGraphicFramePr>
          <p:nvPr/>
        </p:nvGraphicFramePr>
        <p:xfrm>
          <a:off x="548640" y="1554480"/>
          <a:ext cx="5943600" cy="4663440"/>
        </p:xfrm>
        <a:graphic>
          <a:graphicData uri="http://schemas.openxmlformats.org/drawingml/2006/chart">
            <c:chart xmlns:c="http://schemas.openxmlformats.org/drawingml/2006/chart" r:id="rId2"/>
          </a:graphicData>
        </a:graphic>
      </p:graphicFrame>
      <p:pic>
        <p:nvPicPr>
          <p:cNvPr id="7" name="Picture 6" descr="icono_c0.png"/>
          <p:cNvPicPr>
            <a:picLocks noChangeAspect="1"/>
          </p:cNvPicPr>
          <p:nvPr/>
        </p:nvPicPr>
        <p:blipFill>
          <a:blip r:embed="rId3"/>
          <a:stretch>
            <a:fillRect/>
          </a:stretch>
        </p:blipFill>
        <p:spPr>
          <a:xfrm>
            <a:off x="6720840" y="1600200"/>
            <a:ext cx="868680" cy="868680"/>
          </a:xfrm>
          <a:prstGeom prst="rect">
            <a:avLst/>
          </a:prstGeom>
        </p:spPr>
      </p:pic>
      <p:sp>
        <p:nvSpPr>
          <p:cNvPr id="8" name="TextBox 7"/>
          <p:cNvSpPr txBox="1"/>
          <p:nvPr/>
        </p:nvSpPr>
        <p:spPr>
          <a:xfrm>
            <a:off x="7680960" y="1554480"/>
            <a:ext cx="3931920" cy="1005840"/>
          </a:xfrm>
          <a:prstGeom prst="rect">
            <a:avLst/>
          </a:prstGeom>
          <a:noFill/>
        </p:spPr>
        <p:txBody>
          <a:bodyPr wrap="square" lIns="0" tIns="0" rIns="0" bIns="0">
            <a:spAutoFit/>
          </a:bodyPr>
          <a:lstStyle/>
          <a:p>
            <a:pPr>
              <a:defRPr sz="1300" b="1">
                <a:solidFill>
                  <a:srgbClr val="C2410C"/>
                </a:solidFill>
                <a:latin typeface="Arial"/>
              </a:defRPr>
            </a:pPr>
            <a:r>
              <a:t>C0: Baja Participación Intermitente con Rezago Juvenil</a:t>
            </a:r>
          </a:p>
          <a:p>
            <a:pPr>
              <a:defRPr sz="1300" b="1">
                <a:solidFill>
                  <a:srgbClr val="1F2937"/>
                </a:solidFill>
                <a:latin typeface="Arial"/>
              </a:defRPr>
            </a:pPr>
            <a:r>
              <a:t>32.9% de las secciones · participación media 50.4%</a:t>
            </a:r>
          </a:p>
          <a:p>
            <a:pPr>
              <a:defRPr sz="1300">
                <a:solidFill>
                  <a:srgbClr val="6B7280"/>
                </a:solidFill>
                <a:latin typeface="Arial"/>
              </a:defRPr>
            </a:pPr>
            <a:r>
              <a:t>Cae en elecciones intermedias y rezago juvenil</a:t>
            </a:r>
          </a:p>
        </p:txBody>
      </p:sp>
      <p:pic>
        <p:nvPicPr>
          <p:cNvPr id="9" name="Picture 8" descr="icono_c1.png"/>
          <p:cNvPicPr>
            <a:picLocks noChangeAspect="1"/>
          </p:cNvPicPr>
          <p:nvPr/>
        </p:nvPicPr>
        <p:blipFill>
          <a:blip r:embed="rId4"/>
          <a:stretch>
            <a:fillRect/>
          </a:stretch>
        </p:blipFill>
        <p:spPr>
          <a:xfrm>
            <a:off x="6720840" y="2743200"/>
            <a:ext cx="868680" cy="868680"/>
          </a:xfrm>
          <a:prstGeom prst="rect">
            <a:avLst/>
          </a:prstGeom>
        </p:spPr>
      </p:pic>
      <p:sp>
        <p:nvSpPr>
          <p:cNvPr id="10" name="TextBox 9"/>
          <p:cNvSpPr txBox="1"/>
          <p:nvPr/>
        </p:nvSpPr>
        <p:spPr>
          <a:xfrm>
            <a:off x="7680960" y="2697480"/>
            <a:ext cx="3931920" cy="1005840"/>
          </a:xfrm>
          <a:prstGeom prst="rect">
            <a:avLst/>
          </a:prstGeom>
          <a:noFill/>
        </p:spPr>
        <p:txBody>
          <a:bodyPr wrap="square" lIns="0" tIns="0" rIns="0" bIns="0">
            <a:spAutoFit/>
          </a:bodyPr>
          <a:lstStyle/>
          <a:p>
            <a:pPr>
              <a:defRPr sz="1300" b="1">
                <a:solidFill>
                  <a:srgbClr val="047857"/>
                </a:solidFill>
                <a:latin typeface="Arial"/>
              </a:defRPr>
            </a:pPr>
            <a:r>
              <a:t>C1: Alta Participación Estable e Intergeneracional</a:t>
            </a:r>
          </a:p>
          <a:p>
            <a:pPr>
              <a:defRPr sz="1300" b="1">
                <a:solidFill>
                  <a:srgbClr val="1F2937"/>
                </a:solidFill>
                <a:latin typeface="Arial"/>
              </a:defRPr>
            </a:pPr>
            <a:r>
              <a:t>16.4% de las secciones · participación media 65.1%</a:t>
            </a:r>
          </a:p>
          <a:p>
            <a:pPr>
              <a:defRPr sz="1300">
                <a:solidFill>
                  <a:srgbClr val="6B7280"/>
                </a:solidFill>
                <a:latin typeface="Arial"/>
              </a:defRPr>
            </a:pPr>
            <a:r>
              <a:t>Alta y estable; integra a todas las edades</a:t>
            </a:r>
          </a:p>
        </p:txBody>
      </p:sp>
      <p:pic>
        <p:nvPicPr>
          <p:cNvPr id="11" name="Picture 10" descr="icono_c2.png"/>
          <p:cNvPicPr>
            <a:picLocks noChangeAspect="1"/>
          </p:cNvPicPr>
          <p:nvPr/>
        </p:nvPicPr>
        <p:blipFill>
          <a:blip r:embed="rId5"/>
          <a:stretch>
            <a:fillRect/>
          </a:stretch>
        </p:blipFill>
        <p:spPr>
          <a:xfrm>
            <a:off x="6720840" y="3886200"/>
            <a:ext cx="868680" cy="868680"/>
          </a:xfrm>
          <a:prstGeom prst="rect">
            <a:avLst/>
          </a:prstGeom>
        </p:spPr>
      </p:pic>
      <p:sp>
        <p:nvSpPr>
          <p:cNvPr id="12" name="TextBox 11"/>
          <p:cNvSpPr txBox="1"/>
          <p:nvPr/>
        </p:nvSpPr>
        <p:spPr>
          <a:xfrm>
            <a:off x="7680960" y="3840480"/>
            <a:ext cx="3931920" cy="1005840"/>
          </a:xfrm>
          <a:prstGeom prst="rect">
            <a:avLst/>
          </a:prstGeom>
          <a:noFill/>
        </p:spPr>
        <p:txBody>
          <a:bodyPr wrap="square" lIns="0" tIns="0" rIns="0" bIns="0">
            <a:spAutoFit/>
          </a:bodyPr>
          <a:lstStyle/>
          <a:p>
            <a:pPr>
              <a:defRPr sz="1300" b="1">
                <a:solidFill>
                  <a:srgbClr val="1D4ED8"/>
                </a:solidFill>
                <a:latin typeface="Arial"/>
              </a:defRPr>
            </a:pPr>
            <a:r>
              <a:t>C2: Participación en Ascenso con Juventud Activa</a:t>
            </a:r>
          </a:p>
          <a:p>
            <a:pPr>
              <a:defRPr sz="1300" b="1">
                <a:solidFill>
                  <a:srgbClr val="1F2937"/>
                </a:solidFill>
                <a:latin typeface="Arial"/>
              </a:defRPr>
            </a:pPr>
            <a:r>
              <a:t>27.3% de las secciones · participación media 58.9%</a:t>
            </a:r>
          </a:p>
          <a:p>
            <a:pPr>
              <a:defRPr sz="1300">
                <a:solidFill>
                  <a:srgbClr val="6B7280"/>
                </a:solidFill>
                <a:latin typeface="Arial"/>
              </a:defRPr>
            </a:pPr>
            <a:r>
              <a:t>Crece +1.28 pts por año con juventud activa</a:t>
            </a:r>
          </a:p>
        </p:txBody>
      </p:sp>
      <p:pic>
        <p:nvPicPr>
          <p:cNvPr id="13" name="Picture 12" descr="icono_c3.png"/>
          <p:cNvPicPr>
            <a:picLocks noChangeAspect="1"/>
          </p:cNvPicPr>
          <p:nvPr/>
        </p:nvPicPr>
        <p:blipFill>
          <a:blip r:embed="rId6"/>
          <a:stretch>
            <a:fillRect/>
          </a:stretch>
        </p:blipFill>
        <p:spPr>
          <a:xfrm>
            <a:off x="6720840" y="5029200"/>
            <a:ext cx="868680" cy="868680"/>
          </a:xfrm>
          <a:prstGeom prst="rect">
            <a:avLst/>
          </a:prstGeom>
        </p:spPr>
      </p:pic>
      <p:sp>
        <p:nvSpPr>
          <p:cNvPr id="14" name="TextBox 13"/>
          <p:cNvSpPr txBox="1"/>
          <p:nvPr/>
        </p:nvSpPr>
        <p:spPr>
          <a:xfrm>
            <a:off x="7680960" y="4983480"/>
            <a:ext cx="3931920" cy="1005840"/>
          </a:xfrm>
          <a:prstGeom prst="rect">
            <a:avLst/>
          </a:prstGeom>
          <a:noFill/>
        </p:spPr>
        <p:txBody>
          <a:bodyPr wrap="square" lIns="0" tIns="0" rIns="0" bIns="0">
            <a:spAutoFit/>
          </a:bodyPr>
          <a:lstStyle/>
          <a:p>
            <a:pPr>
              <a:defRPr sz="1300" b="1">
                <a:solidFill>
                  <a:srgbClr val="6D28D9"/>
                </a:solidFill>
                <a:latin typeface="Arial"/>
              </a:defRPr>
            </a:pPr>
            <a:r>
              <a:t>C3: Liderazgo Femenino con Participación Estancada</a:t>
            </a:r>
          </a:p>
          <a:p>
            <a:pPr>
              <a:defRPr sz="1300" b="1">
                <a:solidFill>
                  <a:srgbClr val="1F2937"/>
                </a:solidFill>
                <a:latin typeface="Arial"/>
              </a:defRPr>
            </a:pPr>
            <a:r>
              <a:t>23.4% de las secciones · participación media 55.4%</a:t>
            </a:r>
          </a:p>
          <a:p>
            <a:pPr>
              <a:defRPr sz="1300">
                <a:solidFill>
                  <a:srgbClr val="6B7280"/>
                </a:solidFill>
                <a:latin typeface="Arial"/>
              </a:defRPr>
            </a:pPr>
            <a:r>
              <a:t>Las mujeres votan 11.2 pts más; cae en presidenciales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Dos perfiles concentran el margen de mejora</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6</a:t>
            </a:r>
          </a:p>
        </p:txBody>
      </p:sp>
      <p:sp>
        <p:nvSpPr>
          <p:cNvPr id="6" name="Rounded Rectangle 5"/>
          <p:cNvSpPr/>
          <p:nvPr/>
        </p:nvSpPr>
        <p:spPr>
          <a:xfrm>
            <a:off x="548640" y="1554480"/>
            <a:ext cx="5394960" cy="640080"/>
          </a:xfrm>
          <a:prstGeom prst="roundRect">
            <a:avLst/>
          </a:prstGeom>
          <a:solidFill>
            <a:srgbClr val="C2410C"/>
          </a:solidFill>
          <a:ln>
            <a:solidFill>
              <a:srgbClr val="C241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o_c0.png"/>
          <p:cNvPicPr>
            <a:picLocks noChangeAspect="1"/>
          </p:cNvPicPr>
          <p:nvPr/>
        </p:nvPicPr>
        <p:blipFill>
          <a:blip r:embed="rId2"/>
          <a:stretch>
            <a:fillRect/>
          </a:stretch>
        </p:blipFill>
        <p:spPr>
          <a:xfrm>
            <a:off x="658368" y="1600200"/>
            <a:ext cx="548640" cy="548640"/>
          </a:xfrm>
          <a:prstGeom prst="rect">
            <a:avLst/>
          </a:prstGeom>
        </p:spPr>
      </p:pic>
      <p:sp>
        <p:nvSpPr>
          <p:cNvPr id="8" name="TextBox 7"/>
          <p:cNvSpPr txBox="1"/>
          <p:nvPr/>
        </p:nvSpPr>
        <p:spPr>
          <a:xfrm>
            <a:off x="1280160" y="1572768"/>
            <a:ext cx="4572000" cy="594360"/>
          </a:xfrm>
          <a:prstGeom prst="rect">
            <a:avLst/>
          </a:prstGeom>
          <a:noFill/>
        </p:spPr>
        <p:txBody>
          <a:bodyPr wrap="none">
            <a:spAutoFit/>
          </a:bodyPr>
          <a:lstStyle/>
          <a:p>
            <a:pPr>
              <a:defRPr sz="1300" b="1">
                <a:solidFill>
                  <a:srgbClr val="FFFFFF"/>
                </a:solidFill>
                <a:latin typeface="Arial"/>
              </a:defRPr>
            </a:pPr>
            <a:r>
              <a:t>C0: Baja Participación Intermitente con Rezago Juvenil</a:t>
            </a:r>
          </a:p>
        </p:txBody>
      </p:sp>
      <p:sp>
        <p:nvSpPr>
          <p:cNvPr id="9" name="Rounded Rectangle 8"/>
          <p:cNvSpPr/>
          <p:nvPr/>
        </p:nvSpPr>
        <p:spPr>
          <a:xfrm>
            <a:off x="548640" y="2286000"/>
            <a:ext cx="5394960" cy="9144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410C"/>
                </a:solidFill>
                <a:latin typeface="Arial"/>
              </a:defRPr>
            </a:pPr>
            <a:r>
              <a:t>50.4% (media)  ·  46.1% (intermedia 2021)  ·  +17.3 pts (brecha pres.–inter.)</a:t>
            </a:r>
          </a:p>
        </p:txBody>
      </p:sp>
      <p:sp>
        <p:nvSpPr>
          <p:cNvPr id="10" name="Rounded Rectangle 9"/>
          <p:cNvSpPr/>
          <p:nvPr/>
        </p:nvSpPr>
        <p:spPr>
          <a:xfrm>
            <a:off x="548640" y="3291840"/>
            <a:ext cx="5394960" cy="29260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1E3A8A"/>
                </a:solidFill>
                <a:latin typeface="Arial"/>
              </a:defRPr>
            </a:pPr>
            <a:r>
              <a:t>Qué proponemos:</a:t>
            </a:r>
          </a:p>
          <a:p>
            <a:pPr>
              <a:defRPr sz="1300">
                <a:solidFill>
                  <a:srgbClr val="1F2937"/>
                </a:solidFill>
                <a:latin typeface="Arial"/>
              </a:defRPr>
            </a:pPr>
            <a:r>
              <a:t>Pedagogía sobre elecciones intermedias en transporte masivo y medios digitales; módulos itinerantes de credencialización para jóvenes que no estudian y en universidades.</a:t>
            </a:r>
          </a:p>
          <a:p>
            <a:pPr>
              <a:defRPr sz="1400" b="1">
                <a:solidFill>
                  <a:srgbClr val="1E3A8A"/>
                </a:solidFill>
                <a:latin typeface="Arial"/>
              </a:defRPr>
            </a:pPr>
            <a:r>
              <a:t>Meta:</a:t>
            </a:r>
          </a:p>
          <a:p>
            <a:pPr>
              <a:defRPr sz="1300" b="1">
                <a:solidFill>
                  <a:srgbClr val="C2410C"/>
                </a:solidFill>
                <a:latin typeface="Arial"/>
              </a:defRPr>
            </a:pPr>
            <a:r>
              <a:t>49.5% en la intermedia 2027 (+3.3 pts) · voto juvenil 39.1%</a:t>
            </a:r>
          </a:p>
          <a:p>
            <a:pPr>
              <a:defRPr sz="1400" b="1">
                <a:solidFill>
                  <a:srgbClr val="1E3A8A"/>
                </a:solidFill>
                <a:latin typeface="Arial"/>
              </a:defRPr>
            </a:pPr>
            <a:r>
              <a:t>Dónde empezar:</a:t>
            </a:r>
          </a:p>
          <a:p>
            <a:pPr>
              <a:defRPr sz="1300">
                <a:solidFill>
                  <a:srgbClr val="1F2937"/>
                </a:solidFill>
                <a:latin typeface="Arial"/>
              </a:defRPr>
            </a:pPr>
            <a:r>
              <a:t>Chihuahua 03 · Estado de México 31 · Puebla 09</a:t>
            </a:r>
          </a:p>
        </p:txBody>
      </p:sp>
      <p:sp>
        <p:nvSpPr>
          <p:cNvPr id="11" name="Rounded Rectangle 10"/>
          <p:cNvSpPr/>
          <p:nvPr/>
        </p:nvSpPr>
        <p:spPr>
          <a:xfrm>
            <a:off x="6217920" y="1554480"/>
            <a:ext cx="5394960" cy="640080"/>
          </a:xfrm>
          <a:prstGeom prst="roundRect">
            <a:avLst/>
          </a:prstGeom>
          <a:solidFill>
            <a:srgbClr val="6D28D9"/>
          </a:solidFill>
          <a:ln>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ono_c3.png"/>
          <p:cNvPicPr>
            <a:picLocks noChangeAspect="1"/>
          </p:cNvPicPr>
          <p:nvPr/>
        </p:nvPicPr>
        <p:blipFill>
          <a:blip r:embed="rId3"/>
          <a:stretch>
            <a:fillRect/>
          </a:stretch>
        </p:blipFill>
        <p:spPr>
          <a:xfrm>
            <a:off x="6327648" y="1600200"/>
            <a:ext cx="548640" cy="548640"/>
          </a:xfrm>
          <a:prstGeom prst="rect">
            <a:avLst/>
          </a:prstGeom>
        </p:spPr>
      </p:pic>
      <p:sp>
        <p:nvSpPr>
          <p:cNvPr id="13" name="TextBox 12"/>
          <p:cNvSpPr txBox="1"/>
          <p:nvPr/>
        </p:nvSpPr>
        <p:spPr>
          <a:xfrm>
            <a:off x="6949440" y="1572768"/>
            <a:ext cx="4572000" cy="594360"/>
          </a:xfrm>
          <a:prstGeom prst="rect">
            <a:avLst/>
          </a:prstGeom>
          <a:noFill/>
        </p:spPr>
        <p:txBody>
          <a:bodyPr wrap="none">
            <a:spAutoFit/>
          </a:bodyPr>
          <a:lstStyle/>
          <a:p>
            <a:pPr>
              <a:defRPr sz="1300" b="1">
                <a:solidFill>
                  <a:srgbClr val="FFFFFF"/>
                </a:solidFill>
                <a:latin typeface="Arial"/>
              </a:defRPr>
            </a:pPr>
            <a:r>
              <a:t>C3: Liderazgo Femenino con Participación Estancada</a:t>
            </a:r>
          </a:p>
        </p:txBody>
      </p:sp>
      <p:sp>
        <p:nvSpPr>
          <p:cNvPr id="14" name="Rounded Rectangle 13"/>
          <p:cNvSpPr/>
          <p:nvPr/>
        </p:nvSpPr>
        <p:spPr>
          <a:xfrm>
            <a:off x="6217920" y="2286000"/>
            <a:ext cx="5394960" cy="9144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6D28D9"/>
                </a:solidFill>
                <a:latin typeface="Arial"/>
              </a:defRPr>
            </a:pPr>
            <a:r>
              <a:t>55.4% (media)  ·  49.5% (intermedia 2021)  ·  +11.2 pts (brecha de género)</a:t>
            </a:r>
          </a:p>
        </p:txBody>
      </p:sp>
      <p:sp>
        <p:nvSpPr>
          <p:cNvPr id="15" name="Rounded Rectangle 14"/>
          <p:cNvSpPr/>
          <p:nvPr/>
        </p:nvSpPr>
        <p:spPr>
          <a:xfrm>
            <a:off x="6217920" y="3291840"/>
            <a:ext cx="5394960" cy="29260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1E3A8A"/>
                </a:solidFill>
                <a:latin typeface="Arial"/>
              </a:defRPr>
            </a:pPr>
            <a:r>
              <a:t>Qué proponemos:</a:t>
            </a:r>
          </a:p>
          <a:p>
            <a:pPr>
              <a:defRPr sz="1300">
                <a:solidFill>
                  <a:srgbClr val="1F2937"/>
                </a:solidFill>
                <a:latin typeface="Arial"/>
              </a:defRPr>
            </a:pPr>
            <a:r>
              <a:t>Promoción del voto masculino en centros de trabajo agropecuarios, industriales y de transporte, y en radio regional; rutas móviles y casillas extraordinarias en localidades dispersas.</a:t>
            </a:r>
          </a:p>
          <a:p>
            <a:pPr>
              <a:defRPr sz="1400" b="1">
                <a:solidFill>
                  <a:srgbClr val="1E3A8A"/>
                </a:solidFill>
                <a:latin typeface="Arial"/>
              </a:defRPr>
            </a:pPr>
            <a:r>
              <a:t>Meta:</a:t>
            </a:r>
          </a:p>
          <a:p>
            <a:pPr>
              <a:defRPr sz="1300" b="1">
                <a:solidFill>
                  <a:srgbClr val="6D28D9"/>
                </a:solidFill>
                <a:latin typeface="Arial"/>
              </a:defRPr>
            </a:pPr>
            <a:r>
              <a:t>51.1% en 2027 · 58.1% en 2030 · voto masculino 46.3%</a:t>
            </a:r>
          </a:p>
          <a:p>
            <a:pPr>
              <a:defRPr sz="1400" b="1">
                <a:solidFill>
                  <a:srgbClr val="1E3A8A"/>
                </a:solidFill>
                <a:latin typeface="Arial"/>
              </a:defRPr>
            </a:pPr>
            <a:r>
              <a:t>Dónde empezar:</a:t>
            </a:r>
          </a:p>
          <a:p>
            <a:pPr>
              <a:defRPr sz="1300">
                <a:solidFill>
                  <a:srgbClr val="1F2937"/>
                </a:solidFill>
                <a:latin typeface="Arial"/>
              </a:defRPr>
            </a:pPr>
            <a:r>
              <a:t>Guanajuato 02 · Estado de México 32 · Sonora 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Dos perfiles que hay que sostener</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7</a:t>
            </a:r>
          </a:p>
        </p:txBody>
      </p:sp>
      <p:sp>
        <p:nvSpPr>
          <p:cNvPr id="6" name="Rounded Rectangle 5"/>
          <p:cNvSpPr/>
          <p:nvPr/>
        </p:nvSpPr>
        <p:spPr>
          <a:xfrm>
            <a:off x="548640" y="1554480"/>
            <a:ext cx="5394960" cy="640080"/>
          </a:xfrm>
          <a:prstGeom prst="roundRect">
            <a:avLst/>
          </a:prstGeom>
          <a:solidFill>
            <a:srgbClr val="047857"/>
          </a:solidFill>
          <a:ln>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o_c1.png"/>
          <p:cNvPicPr>
            <a:picLocks noChangeAspect="1"/>
          </p:cNvPicPr>
          <p:nvPr/>
        </p:nvPicPr>
        <p:blipFill>
          <a:blip r:embed="rId2"/>
          <a:stretch>
            <a:fillRect/>
          </a:stretch>
        </p:blipFill>
        <p:spPr>
          <a:xfrm>
            <a:off x="658368" y="1600200"/>
            <a:ext cx="548640" cy="548640"/>
          </a:xfrm>
          <a:prstGeom prst="rect">
            <a:avLst/>
          </a:prstGeom>
        </p:spPr>
      </p:pic>
      <p:sp>
        <p:nvSpPr>
          <p:cNvPr id="8" name="TextBox 7"/>
          <p:cNvSpPr txBox="1"/>
          <p:nvPr/>
        </p:nvSpPr>
        <p:spPr>
          <a:xfrm>
            <a:off x="1280160" y="1572768"/>
            <a:ext cx="4572000" cy="594360"/>
          </a:xfrm>
          <a:prstGeom prst="rect">
            <a:avLst/>
          </a:prstGeom>
          <a:noFill/>
        </p:spPr>
        <p:txBody>
          <a:bodyPr wrap="none">
            <a:spAutoFit/>
          </a:bodyPr>
          <a:lstStyle/>
          <a:p>
            <a:pPr>
              <a:defRPr sz="1300" b="1">
                <a:solidFill>
                  <a:srgbClr val="FFFFFF"/>
                </a:solidFill>
                <a:latin typeface="Arial"/>
              </a:defRPr>
            </a:pPr>
            <a:r>
              <a:t>C1: Alta Participación Estable e Intergeneracional</a:t>
            </a:r>
          </a:p>
        </p:txBody>
      </p:sp>
      <p:sp>
        <p:nvSpPr>
          <p:cNvPr id="9" name="Rounded Rectangle 8"/>
          <p:cNvSpPr/>
          <p:nvPr/>
        </p:nvSpPr>
        <p:spPr>
          <a:xfrm>
            <a:off x="548640" y="2286000"/>
            <a:ext cx="5394960" cy="9144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47857"/>
                </a:solidFill>
                <a:latin typeface="Arial"/>
              </a:defRPr>
            </a:pPr>
            <a:r>
              <a:t>65.1% (media)  ·  62.5% (intermedia 2021)  ·  59.1% (voto juvenil)</a:t>
            </a:r>
          </a:p>
        </p:txBody>
      </p:sp>
      <p:sp>
        <p:nvSpPr>
          <p:cNvPr id="10" name="Rounded Rectangle 9"/>
          <p:cNvSpPr/>
          <p:nvPr/>
        </p:nvSpPr>
        <p:spPr>
          <a:xfrm>
            <a:off x="548640" y="3291840"/>
            <a:ext cx="5394960" cy="29260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1E3A8A"/>
                </a:solidFill>
                <a:latin typeface="Arial"/>
              </a:defRPr>
            </a:pPr>
            <a:r>
              <a:t>Qué proponemos:</a:t>
            </a:r>
          </a:p>
          <a:p>
            <a:pPr>
              <a:defRPr sz="1300">
                <a:solidFill>
                  <a:srgbClr val="1F2937"/>
                </a:solidFill>
                <a:latin typeface="Arial"/>
              </a:defRPr>
            </a:pPr>
            <a:r>
              <a:t>Reconocimiento a la constancia cívica, talleres juveniles y sensibilización de la ciudadanía insaculada para integrar casillas.</a:t>
            </a:r>
          </a:p>
          <a:p>
            <a:pPr>
              <a:defRPr sz="1400" b="1">
                <a:solidFill>
                  <a:srgbClr val="1E3A8A"/>
                </a:solidFill>
                <a:latin typeface="Arial"/>
              </a:defRPr>
            </a:pPr>
            <a:r>
              <a:t>Meta:</a:t>
            </a:r>
          </a:p>
          <a:p>
            <a:pPr>
              <a:defRPr sz="1300" b="1">
                <a:solidFill>
                  <a:srgbClr val="047857"/>
                </a:solidFill>
                <a:latin typeface="Arial"/>
              </a:defRPr>
            </a:pPr>
            <a:r>
              <a:t>≥ 62.5% en 2027 · ≥ 65.7% en 2030</a:t>
            </a:r>
          </a:p>
          <a:p>
            <a:pPr>
              <a:defRPr sz="1400" b="1">
                <a:solidFill>
                  <a:srgbClr val="1E3A8A"/>
                </a:solidFill>
                <a:latin typeface="Arial"/>
              </a:defRPr>
            </a:pPr>
            <a:r>
              <a:t>Dónde empezar:</a:t>
            </a:r>
          </a:p>
          <a:p>
            <a:pPr>
              <a:defRPr sz="1300">
                <a:solidFill>
                  <a:srgbClr val="1F2937"/>
                </a:solidFill>
                <a:latin typeface="Arial"/>
              </a:defRPr>
            </a:pPr>
            <a:r>
              <a:t>Jalisco 18 · Campeche 01 · Nuevo León 04</a:t>
            </a:r>
          </a:p>
        </p:txBody>
      </p:sp>
      <p:sp>
        <p:nvSpPr>
          <p:cNvPr id="11" name="Rounded Rectangle 10"/>
          <p:cNvSpPr/>
          <p:nvPr/>
        </p:nvSpPr>
        <p:spPr>
          <a:xfrm>
            <a:off x="6217920" y="1554480"/>
            <a:ext cx="5394960" cy="640080"/>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ono_c2.png"/>
          <p:cNvPicPr>
            <a:picLocks noChangeAspect="1"/>
          </p:cNvPicPr>
          <p:nvPr/>
        </p:nvPicPr>
        <p:blipFill>
          <a:blip r:embed="rId3"/>
          <a:stretch>
            <a:fillRect/>
          </a:stretch>
        </p:blipFill>
        <p:spPr>
          <a:xfrm>
            <a:off x="6327648" y="1600200"/>
            <a:ext cx="548640" cy="548640"/>
          </a:xfrm>
          <a:prstGeom prst="rect">
            <a:avLst/>
          </a:prstGeom>
        </p:spPr>
      </p:pic>
      <p:sp>
        <p:nvSpPr>
          <p:cNvPr id="13" name="TextBox 12"/>
          <p:cNvSpPr txBox="1"/>
          <p:nvPr/>
        </p:nvSpPr>
        <p:spPr>
          <a:xfrm>
            <a:off x="6949440" y="1572768"/>
            <a:ext cx="4572000" cy="594360"/>
          </a:xfrm>
          <a:prstGeom prst="rect">
            <a:avLst/>
          </a:prstGeom>
          <a:noFill/>
        </p:spPr>
        <p:txBody>
          <a:bodyPr wrap="none">
            <a:spAutoFit/>
          </a:bodyPr>
          <a:lstStyle/>
          <a:p>
            <a:pPr>
              <a:defRPr sz="1300" b="1">
                <a:solidFill>
                  <a:srgbClr val="FFFFFF"/>
                </a:solidFill>
                <a:latin typeface="Arial"/>
              </a:defRPr>
            </a:pPr>
            <a:r>
              <a:t>C2: Participación en Ascenso con Juventud Activa</a:t>
            </a:r>
          </a:p>
        </p:txBody>
      </p:sp>
      <p:sp>
        <p:nvSpPr>
          <p:cNvPr id="14" name="Rounded Rectangle 13"/>
          <p:cNvSpPr/>
          <p:nvPr/>
        </p:nvSpPr>
        <p:spPr>
          <a:xfrm>
            <a:off x="6217920" y="2286000"/>
            <a:ext cx="5394960" cy="9144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D4ED8"/>
                </a:solidFill>
                <a:latin typeface="Arial"/>
              </a:defRPr>
            </a:pPr>
            <a:r>
              <a:t>58.9% (media)  ·  60.4% (intermedia 2021)  ·  +1.28 pts/año (tendencia anual)</a:t>
            </a:r>
          </a:p>
        </p:txBody>
      </p:sp>
      <p:sp>
        <p:nvSpPr>
          <p:cNvPr id="15" name="Rounded Rectangle 14"/>
          <p:cNvSpPr/>
          <p:nvPr/>
        </p:nvSpPr>
        <p:spPr>
          <a:xfrm>
            <a:off x="6217920" y="3291840"/>
            <a:ext cx="5394960" cy="29260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1E3A8A"/>
                </a:solidFill>
                <a:latin typeface="Arial"/>
              </a:defRPr>
            </a:pPr>
            <a:r>
              <a:t>Qué proponemos:</a:t>
            </a:r>
          </a:p>
          <a:p>
            <a:pPr>
              <a:defRPr sz="1300">
                <a:solidFill>
                  <a:srgbClr val="1F2937"/>
                </a:solidFill>
                <a:latin typeface="Arial"/>
              </a:defRPr>
            </a:pPr>
            <a:r>
              <a:t>Foros «Diálogos por la Democracia», alianzas con colectivos juveniles y difusión de «Conóceles» para consultar información de todas las candidaturas.</a:t>
            </a:r>
          </a:p>
          <a:p>
            <a:pPr>
              <a:defRPr sz="1400" b="1">
                <a:solidFill>
                  <a:srgbClr val="1E3A8A"/>
                </a:solidFill>
                <a:latin typeface="Arial"/>
              </a:defRPr>
            </a:pPr>
            <a:r>
              <a:t>Meta:</a:t>
            </a:r>
          </a:p>
          <a:p>
            <a:pPr>
              <a:defRPr sz="1300" b="1">
                <a:solidFill>
                  <a:srgbClr val="1D4ED8"/>
                </a:solidFill>
                <a:latin typeface="Arial"/>
              </a:defRPr>
            </a:pPr>
            <a:r>
              <a:t>≥ 60.4% en 2027 · razón juvenil ≥ 0.88</a:t>
            </a:r>
          </a:p>
          <a:p>
            <a:pPr>
              <a:defRPr sz="1400" b="1">
                <a:solidFill>
                  <a:srgbClr val="1E3A8A"/>
                </a:solidFill>
                <a:latin typeface="Arial"/>
              </a:defRPr>
            </a:pPr>
            <a:r>
              <a:t>Dónde empezar:</a:t>
            </a:r>
          </a:p>
          <a:p>
            <a:pPr>
              <a:defRPr sz="1300">
                <a:solidFill>
                  <a:srgbClr val="1F2937"/>
                </a:solidFill>
                <a:latin typeface="Arial"/>
              </a:defRPr>
            </a:pPr>
            <a:r>
              <a:t>Ciudad de México 15 · Tlaxcala 03 · Ciudad de México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Hasta 1.27 millones de votantes adicionales en 2027</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8</a:t>
            </a:r>
          </a:p>
        </p:txBody>
      </p:sp>
      <p:sp>
        <p:nvSpPr>
          <p:cNvPr id="6" name="Rounded Rectangle 5"/>
          <p:cNvSpPr/>
          <p:nvPr/>
        </p:nvSpPr>
        <p:spPr>
          <a:xfrm>
            <a:off x="548640" y="1554480"/>
            <a:ext cx="5303520" cy="13716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73152" bIns="73152"/>
          <a:lstStyle/>
          <a:p>
            <a:pPr algn="ctr">
              <a:defRPr sz="3000" b="1">
                <a:solidFill>
                  <a:srgbClr val="047857"/>
                </a:solidFill>
                <a:latin typeface="Arial"/>
              </a:defRPr>
            </a:pPr>
            <a:r>
              <a:t>607 mil – 1.27 millones</a:t>
            </a:r>
          </a:p>
          <a:p>
            <a:pPr>
              <a:defRPr sz="1300">
                <a:solidFill>
                  <a:srgbClr val="1F2937"/>
                </a:solidFill>
                <a:latin typeface="Arial"/>
              </a:defRPr>
            </a:pPr>
            <a:r>
              <a:t>votantes adicionales si se cumplen las metas de C0 y C3 (escenario conservador – meta)</a:t>
            </a:r>
          </a:p>
        </p:txBody>
      </p:sp>
      <p:sp>
        <p:nvSpPr>
          <p:cNvPr id="7" name="Rounded Rectangle 6"/>
          <p:cNvSpPr/>
          <p:nvPr/>
        </p:nvSpPr>
        <p:spPr>
          <a:xfrm>
            <a:off x="6217920" y="1554480"/>
            <a:ext cx="5394960" cy="13716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73152" bIns="73152"/>
          <a:lstStyle/>
          <a:p>
            <a:pPr algn="ctr">
              <a:defRPr sz="3000" b="1">
                <a:solidFill>
                  <a:srgbClr val="C2410C"/>
                </a:solidFill>
                <a:latin typeface="Arial"/>
              </a:defRPr>
            </a:pPr>
            <a:r>
              <a:t>≈ 1.97 millones</a:t>
            </a:r>
          </a:p>
          <a:p>
            <a:pPr>
              <a:defRPr sz="1300">
                <a:solidFill>
                  <a:srgbClr val="1F2937"/>
                </a:solidFill>
                <a:latin typeface="Arial"/>
              </a:defRPr>
            </a:pPr>
            <a:r>
              <a:t>votantes en riesgo en C1 y C2 si regresan a su promedio intermedio</a:t>
            </a:r>
          </a:p>
        </p:txBody>
      </p:sp>
      <p:graphicFrame>
        <p:nvGraphicFramePr>
          <p:cNvPr id="8" name="Table 7"/>
          <p:cNvGraphicFramePr>
            <a:graphicFrameLocks noGrp="1"/>
          </p:cNvGraphicFramePr>
          <p:nvPr/>
        </p:nvGraphicFramePr>
        <p:xfrm>
          <a:off x="548640" y="3108960"/>
          <a:ext cx="11094415" cy="2651760"/>
        </p:xfrm>
        <a:graphic>
          <a:graphicData uri="http://schemas.openxmlformats.org/drawingml/2006/table">
            <a:tbl>
              <a:tblPr firstRow="1" bandRow="1">
                <a:tableStyleId>{5C22544A-7EE6-4342-B048-85BDC9FD1C3A}</a:tableStyleId>
              </a:tblPr>
              <a:tblGrid>
                <a:gridCol w="3474720"/>
                <a:gridCol w="2011680"/>
                <a:gridCol w="4114800"/>
                <a:gridCol w="1493215"/>
              </a:tblGrid>
              <a:tr h="530352">
                <a:tc>
                  <a:txBody>
                    <a:bodyPr/>
                    <a:lstStyle/>
                    <a:p>
                      <a:pPr algn="l">
                        <a:defRPr sz="1400" b="1">
                          <a:solidFill>
                            <a:srgbClr val="FFFFFF"/>
                          </a:solidFill>
                          <a:latin typeface="Arial"/>
                        </a:defRPr>
                      </a:pPr>
                      <a:r>
                        <a:t>Perfil</a:t>
                      </a:r>
                    </a:p>
                  </a:txBody>
                  <a:tcPr anchor="ctr">
                    <a:solidFill>
                      <a:srgbClr val="1E3A8A"/>
                    </a:solidFill>
                  </a:tcPr>
                </a:tc>
                <a:tc>
                  <a:txBody>
                    <a:bodyPr/>
                    <a:lstStyle/>
                    <a:p>
                      <a:pPr algn="ctr">
                        <a:defRPr sz="1400" b="1">
                          <a:solidFill>
                            <a:srgbClr val="FFFFFF"/>
                          </a:solidFill>
                          <a:latin typeface="Arial"/>
                        </a:defRPr>
                      </a:pPr>
                      <a:r>
                        <a:t>Impacto 2027</a:t>
                      </a:r>
                    </a:p>
                  </a:txBody>
                  <a:tcPr anchor="ctr">
                    <a:solidFill>
                      <a:srgbClr val="1E3A8A"/>
                    </a:solidFill>
                  </a:tcPr>
                </a:tc>
                <a:tc>
                  <a:txBody>
                    <a:bodyPr/>
                    <a:lstStyle/>
                    <a:p>
                      <a:pPr algn="l">
                        <a:defRPr sz="1400" b="1">
                          <a:solidFill>
                            <a:srgbClr val="FFFFFF"/>
                          </a:solidFill>
                          <a:latin typeface="Arial"/>
                        </a:defRPr>
                      </a:pPr>
                      <a:r>
                        <a:t>Top 3 juntas distritales</a:t>
                      </a:r>
                    </a:p>
                  </a:txBody>
                  <a:tcPr anchor="ctr">
                    <a:solidFill>
                      <a:srgbClr val="1E3A8A"/>
                    </a:solidFill>
                  </a:tcPr>
                </a:tc>
                <a:tc>
                  <a:txBody>
                    <a:bodyPr/>
                    <a:lstStyle/>
                    <a:p>
                      <a:pPr algn="ctr">
                        <a:defRPr sz="1400" b="1">
                          <a:solidFill>
                            <a:srgbClr val="FFFFFF"/>
                          </a:solidFill>
                          <a:latin typeface="Arial"/>
                        </a:defRPr>
                      </a:pPr>
                      <a:r>
                        <a:t>% de su LN en 30 juntas</a:t>
                      </a:r>
                    </a:p>
                  </a:txBody>
                  <a:tcPr anchor="ctr">
                    <a:solidFill>
                      <a:srgbClr val="1E3A8A"/>
                    </a:solidFill>
                  </a:tcPr>
                </a:tc>
              </a:tr>
              <a:tr h="530352">
                <a:tc>
                  <a:txBody>
                    <a:bodyPr/>
                    <a:lstStyle/>
                    <a:p>
                      <a:pPr algn="l">
                        <a:defRPr sz="1300" b="1">
                          <a:solidFill>
                            <a:srgbClr val="C2410C"/>
                          </a:solidFill>
                          <a:latin typeface="Arial"/>
                        </a:defRPr>
                      </a:pPr>
                      <a:r>
                        <a:t>C0: Baja Participación Intermitente con Rezago Juvenil</a:t>
                      </a:r>
                    </a:p>
                  </a:txBody>
                  <a:tcPr anchor="ctr">
                    <a:solidFill>
                      <a:srgbClr val="F8FAFC"/>
                    </a:solidFill>
                  </a:tcPr>
                </a:tc>
                <a:tc>
                  <a:txBody>
                    <a:bodyPr/>
                    <a:lstStyle/>
                    <a:p>
                      <a:pPr algn="ctr">
                        <a:defRPr sz="1300" b="1">
                          <a:solidFill>
                            <a:srgbClr val="C2410C"/>
                          </a:solidFill>
                          <a:latin typeface="Arial"/>
                        </a:defRPr>
                      </a:pPr>
                      <a:r>
                        <a:t>≈ 938 mil adicionales</a:t>
                      </a:r>
                    </a:p>
                  </a:txBody>
                  <a:tcPr anchor="ctr">
                    <a:solidFill>
                      <a:srgbClr val="F8FAFC"/>
                    </a:solidFill>
                  </a:tcPr>
                </a:tc>
                <a:tc>
                  <a:txBody>
                    <a:bodyPr/>
                    <a:lstStyle/>
                    <a:p>
                      <a:pPr algn="l">
                        <a:defRPr sz="1300" b="0">
                          <a:solidFill>
                            <a:srgbClr val="1F2937"/>
                          </a:solidFill>
                          <a:latin typeface="Arial"/>
                        </a:defRPr>
                      </a:pPr>
                      <a:r>
                        <a:t>Chihuahua 03 · Estado de México 31 · Puebla 09</a:t>
                      </a:r>
                    </a:p>
                  </a:txBody>
                  <a:tcPr anchor="ctr">
                    <a:solidFill>
                      <a:srgbClr val="F8FAFC"/>
                    </a:solidFill>
                  </a:tcPr>
                </a:tc>
                <a:tc>
                  <a:txBody>
                    <a:bodyPr/>
                    <a:lstStyle/>
                    <a:p>
                      <a:pPr algn="ctr">
                        <a:defRPr sz="1300" b="0">
                          <a:solidFill>
                            <a:srgbClr val="1F2937"/>
                          </a:solidFill>
                          <a:latin typeface="Arial"/>
                        </a:defRPr>
                      </a:pPr>
                      <a:r>
                        <a:t>23.7%</a:t>
                      </a:r>
                    </a:p>
                  </a:txBody>
                  <a:tcPr anchor="ctr">
                    <a:solidFill>
                      <a:srgbClr val="F8FAFC"/>
                    </a:solidFill>
                  </a:tcPr>
                </a:tc>
              </a:tr>
              <a:tr h="530352">
                <a:tc>
                  <a:txBody>
                    <a:bodyPr/>
                    <a:lstStyle/>
                    <a:p>
                      <a:pPr algn="l">
                        <a:defRPr sz="1300" b="1">
                          <a:solidFill>
                            <a:srgbClr val="047857"/>
                          </a:solidFill>
                          <a:latin typeface="Arial"/>
                        </a:defRPr>
                      </a:pPr>
                      <a:r>
                        <a:t>C1: Alta Participación Estable e Intergeneracional</a:t>
                      </a:r>
                    </a:p>
                  </a:txBody>
                  <a:tcPr anchor="ctr">
                    <a:solidFill>
                      <a:srgbClr val="FFFFFF"/>
                    </a:solidFill>
                  </a:tcPr>
                </a:tc>
                <a:tc>
                  <a:txBody>
                    <a:bodyPr/>
                    <a:lstStyle/>
                    <a:p>
                      <a:pPr algn="ctr">
                        <a:defRPr sz="1300" b="1">
                          <a:solidFill>
                            <a:srgbClr val="047857"/>
                          </a:solidFill>
                          <a:latin typeface="Arial"/>
                        </a:defRPr>
                      </a:pPr>
                      <a:r>
                        <a:t>≈ 58 mil en riesgo</a:t>
                      </a:r>
                    </a:p>
                  </a:txBody>
                  <a:tcPr anchor="ctr">
                    <a:solidFill>
                      <a:srgbClr val="FFFFFF"/>
                    </a:solidFill>
                  </a:tcPr>
                </a:tc>
                <a:tc>
                  <a:txBody>
                    <a:bodyPr/>
                    <a:lstStyle/>
                    <a:p>
                      <a:pPr algn="l">
                        <a:defRPr sz="1300" b="0">
                          <a:solidFill>
                            <a:srgbClr val="1F2937"/>
                          </a:solidFill>
                          <a:latin typeface="Arial"/>
                        </a:defRPr>
                      </a:pPr>
                      <a:r>
                        <a:t>Jalisco 18 · Campeche 01 · Nuevo León 04</a:t>
                      </a:r>
                    </a:p>
                  </a:txBody>
                  <a:tcPr anchor="ctr">
                    <a:solidFill>
                      <a:srgbClr val="FFFFFF"/>
                    </a:solidFill>
                  </a:tcPr>
                </a:tc>
                <a:tc>
                  <a:txBody>
                    <a:bodyPr/>
                    <a:lstStyle/>
                    <a:p>
                      <a:pPr algn="ctr">
                        <a:defRPr sz="1300" b="0">
                          <a:solidFill>
                            <a:srgbClr val="1F2937"/>
                          </a:solidFill>
                          <a:latin typeface="Arial"/>
                        </a:defRPr>
                      </a:pPr>
                      <a:r>
                        <a:t>49.2%</a:t>
                      </a:r>
                    </a:p>
                  </a:txBody>
                  <a:tcPr anchor="ctr">
                    <a:solidFill>
                      <a:srgbClr val="FFFFFF"/>
                    </a:solidFill>
                  </a:tcPr>
                </a:tc>
              </a:tr>
              <a:tr h="530352">
                <a:tc>
                  <a:txBody>
                    <a:bodyPr/>
                    <a:lstStyle/>
                    <a:p>
                      <a:pPr algn="l">
                        <a:defRPr sz="1300" b="1">
                          <a:solidFill>
                            <a:srgbClr val="1D4ED8"/>
                          </a:solidFill>
                          <a:latin typeface="Arial"/>
                        </a:defRPr>
                      </a:pPr>
                      <a:r>
                        <a:t>C2: Participación en Ascenso con Juventud Activa</a:t>
                      </a:r>
                    </a:p>
                  </a:txBody>
                  <a:tcPr anchor="ctr">
                    <a:solidFill>
                      <a:srgbClr val="F8FAFC"/>
                    </a:solidFill>
                  </a:tcPr>
                </a:tc>
                <a:tc>
                  <a:txBody>
                    <a:bodyPr/>
                    <a:lstStyle/>
                    <a:p>
                      <a:pPr algn="ctr">
                        <a:defRPr sz="1300" b="1">
                          <a:solidFill>
                            <a:srgbClr val="1D4ED8"/>
                          </a:solidFill>
                          <a:latin typeface="Arial"/>
                        </a:defRPr>
                      </a:pPr>
                      <a:r>
                        <a:t>≈ 1.92 millones en riesgo</a:t>
                      </a:r>
                    </a:p>
                  </a:txBody>
                  <a:tcPr anchor="ctr">
                    <a:solidFill>
                      <a:srgbClr val="F8FAFC"/>
                    </a:solidFill>
                  </a:tcPr>
                </a:tc>
                <a:tc>
                  <a:txBody>
                    <a:bodyPr/>
                    <a:lstStyle/>
                    <a:p>
                      <a:pPr algn="l">
                        <a:defRPr sz="1300" b="0">
                          <a:solidFill>
                            <a:srgbClr val="1F2937"/>
                          </a:solidFill>
                          <a:latin typeface="Arial"/>
                        </a:defRPr>
                      </a:pPr>
                      <a:r>
                        <a:t>Ciudad de México 15 · Tlaxcala 03 · Ciudad de México 10</a:t>
                      </a:r>
                    </a:p>
                  </a:txBody>
                  <a:tcPr anchor="ctr">
                    <a:solidFill>
                      <a:srgbClr val="F8FAFC"/>
                    </a:solidFill>
                  </a:tcPr>
                </a:tc>
                <a:tc>
                  <a:txBody>
                    <a:bodyPr/>
                    <a:lstStyle/>
                    <a:p>
                      <a:pPr algn="ctr">
                        <a:defRPr sz="1300" b="0">
                          <a:solidFill>
                            <a:srgbClr val="1F2937"/>
                          </a:solidFill>
                          <a:latin typeface="Arial"/>
                        </a:defRPr>
                      </a:pPr>
                      <a:r>
                        <a:t>31.2%</a:t>
                      </a:r>
                    </a:p>
                  </a:txBody>
                  <a:tcPr anchor="ctr">
                    <a:solidFill>
                      <a:srgbClr val="F8FAFC"/>
                    </a:solidFill>
                  </a:tcPr>
                </a:tc>
              </a:tr>
              <a:tr h="530352">
                <a:tc>
                  <a:txBody>
                    <a:bodyPr/>
                    <a:lstStyle/>
                    <a:p>
                      <a:pPr algn="l">
                        <a:defRPr sz="1300" b="1">
                          <a:solidFill>
                            <a:srgbClr val="6D28D9"/>
                          </a:solidFill>
                          <a:latin typeface="Arial"/>
                        </a:defRPr>
                      </a:pPr>
                      <a:r>
                        <a:t>C3: Liderazgo Femenino con Participación Estancada</a:t>
                      </a:r>
                    </a:p>
                  </a:txBody>
                  <a:tcPr anchor="ctr">
                    <a:solidFill>
                      <a:srgbClr val="FFFFFF"/>
                    </a:solidFill>
                  </a:tcPr>
                </a:tc>
                <a:tc>
                  <a:txBody>
                    <a:bodyPr/>
                    <a:lstStyle/>
                    <a:p>
                      <a:pPr algn="ctr">
                        <a:defRPr sz="1300" b="1">
                          <a:solidFill>
                            <a:srgbClr val="6D28D9"/>
                          </a:solidFill>
                          <a:latin typeface="Arial"/>
                        </a:defRPr>
                      </a:pPr>
                      <a:r>
                        <a:t>≈ 333 mil adicionales</a:t>
                      </a:r>
                    </a:p>
                  </a:txBody>
                  <a:tcPr anchor="ctr">
                    <a:solidFill>
                      <a:srgbClr val="FFFFFF"/>
                    </a:solidFill>
                  </a:tcPr>
                </a:tc>
                <a:tc>
                  <a:txBody>
                    <a:bodyPr/>
                    <a:lstStyle/>
                    <a:p>
                      <a:pPr algn="l">
                        <a:defRPr sz="1300" b="0">
                          <a:solidFill>
                            <a:srgbClr val="1F2937"/>
                          </a:solidFill>
                          <a:latin typeface="Arial"/>
                        </a:defRPr>
                      </a:pPr>
                      <a:r>
                        <a:t>Guanajuato 02 · Estado de México 32 · Sonora 02</a:t>
                      </a:r>
                    </a:p>
                  </a:txBody>
                  <a:tcPr anchor="ctr">
                    <a:solidFill>
                      <a:srgbClr val="FFFFFF"/>
                    </a:solidFill>
                  </a:tcPr>
                </a:tc>
                <a:tc>
                  <a:txBody>
                    <a:bodyPr/>
                    <a:lstStyle/>
                    <a:p>
                      <a:pPr algn="ctr">
                        <a:defRPr sz="1300" b="0">
                          <a:solidFill>
                            <a:srgbClr val="1F2937"/>
                          </a:solidFill>
                          <a:latin typeface="Arial"/>
                        </a:defRPr>
                      </a:pPr>
                      <a:r>
                        <a:t>28.5%</a:t>
                      </a:r>
                    </a:p>
                  </a:txBody>
                  <a:tcPr anchor="ctr">
                    <a:solidFill>
                      <a:srgbClr val="FFFFFF"/>
                    </a:solidFill>
                  </a:tcPr>
                </a:tc>
              </a:tr>
            </a:tbl>
          </a:graphicData>
        </a:graphic>
      </p:graphicFrame>
      <p:sp>
        <p:nvSpPr>
          <p:cNvPr id="9" name="TextBox 8"/>
          <p:cNvSpPr txBox="1"/>
          <p:nvPr/>
        </p:nvSpPr>
        <p:spPr>
          <a:xfrm>
            <a:off x="548640" y="5897880"/>
            <a:ext cx="11094415" cy="365760"/>
          </a:xfrm>
          <a:prstGeom prst="rect">
            <a:avLst/>
          </a:prstGeom>
          <a:noFill/>
        </p:spPr>
        <p:txBody>
          <a:bodyPr wrap="none">
            <a:spAutoFit/>
          </a:bodyPr>
          <a:lstStyle/>
          <a:p>
            <a:pPr>
              <a:defRPr sz="1100" i="1">
                <a:solidFill>
                  <a:srgbClr val="6B7280"/>
                </a:solidFill>
                <a:latin typeface="Arial"/>
              </a:defRPr>
            </a:pPr>
            <a:r>
              <a:t>Estimación con la lista nominal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Un piloto que se evalúa con los propios datos del INE</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9</a:t>
            </a:r>
          </a:p>
        </p:txBody>
      </p:sp>
      <p:sp>
        <p:nvSpPr>
          <p:cNvPr id="6" name="Rounded Rectangle 5"/>
          <p:cNvSpPr/>
          <p:nvPr/>
        </p:nvSpPr>
        <p:spPr>
          <a:xfrm>
            <a:off x="548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1,000 secciones</a:t>
            </a:r>
            <a:br/>
            <a:r>
              <a:t>del perfil C0</a:t>
            </a:r>
          </a:p>
        </p:txBody>
      </p:sp>
      <p:sp>
        <p:nvSpPr>
          <p:cNvPr id="7" name="Right Arrow 6"/>
          <p:cNvSpPr/>
          <p:nvPr/>
        </p:nvSpPr>
        <p:spPr>
          <a:xfrm>
            <a:off x="2542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Aleatorización</a:t>
            </a:r>
            <a:br/>
            <a:r>
              <a:t>estratificada</a:t>
            </a:r>
          </a:p>
        </p:txBody>
      </p:sp>
      <p:sp>
        <p:nvSpPr>
          <p:cNvPr id="9" name="Right Arrow 8"/>
          <p:cNvSpPr/>
          <p:nvPr/>
        </p:nvSpPr>
        <p:spPr>
          <a:xfrm>
            <a:off x="4828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20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500 tratamiento</a:t>
            </a:r>
            <a:br/>
            <a:r>
              <a:t>500 de control</a:t>
            </a:r>
          </a:p>
        </p:txBody>
      </p:sp>
      <p:sp>
        <p:nvSpPr>
          <p:cNvPr id="11" name="Right Arrow 10"/>
          <p:cNvSpPr/>
          <p:nvPr/>
        </p:nvSpPr>
        <p:spPr>
          <a:xfrm>
            <a:off x="7114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06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Medición con el</a:t>
            </a:r>
            <a:br/>
            <a:r>
              <a:t>CCPC 2027</a:t>
            </a:r>
          </a:p>
        </p:txBody>
      </p:sp>
      <p:sp>
        <p:nvSpPr>
          <p:cNvPr id="13" name="Right Arrow 12"/>
          <p:cNvSpPr/>
          <p:nvPr/>
        </p:nvSpPr>
        <p:spPr>
          <a:xfrm>
            <a:off x="9400032" y="1965960"/>
            <a:ext cx="219456" cy="320040"/>
          </a:xfrm>
          <a:prstGeom prst="rightArrow">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92640" y="1554480"/>
            <a:ext cx="1920240" cy="118872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Análisis</a:t>
            </a:r>
            <a:br/>
            <a:r>
              <a:t>ANCOVA</a:t>
            </a:r>
          </a:p>
        </p:txBody>
      </p:sp>
      <p:sp>
        <p:nvSpPr>
          <p:cNvPr id="15" name="Rounded Rectangle 14"/>
          <p:cNvSpPr/>
          <p:nvPr/>
        </p:nvSpPr>
        <p:spPr>
          <a:xfrm>
            <a:off x="548640" y="3108960"/>
            <a:ext cx="3474720" cy="2377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1E3A8A"/>
                </a:solidFill>
                <a:latin typeface="Arial"/>
              </a:defRPr>
            </a:pPr>
            <a:r>
              <a:t>1.57 pts</a:t>
            </a:r>
          </a:p>
          <a:p>
            <a:pPr algn="ctr">
              <a:defRPr sz="1600">
                <a:solidFill>
                  <a:srgbClr val="1F2937"/>
                </a:solidFill>
                <a:latin typeface="Arial"/>
              </a:defRPr>
            </a:pPr>
            <a:br/>
            <a:r>
              <a:t>efecto mínimo detectable</a:t>
            </a:r>
          </a:p>
        </p:txBody>
      </p:sp>
      <p:sp>
        <p:nvSpPr>
          <p:cNvPr id="16" name="Rounded Rectangle 15"/>
          <p:cNvSpPr/>
          <p:nvPr/>
        </p:nvSpPr>
        <p:spPr>
          <a:xfrm>
            <a:off x="4343400" y="3108960"/>
            <a:ext cx="3474720" cy="2377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4000" b="1">
                <a:solidFill>
                  <a:srgbClr val="1E3A8A"/>
                </a:solidFill>
                <a:latin typeface="Arial"/>
              </a:defRPr>
            </a:pPr>
            <a:r>
              <a:t>80%</a:t>
            </a:r>
          </a:p>
          <a:p>
            <a:pPr algn="ctr">
              <a:defRPr sz="1600">
                <a:solidFill>
                  <a:srgbClr val="1F2937"/>
                </a:solidFill>
                <a:latin typeface="Arial"/>
              </a:defRPr>
            </a:pPr>
            <a:br/>
            <a:r>
              <a:t>potencia (α = 0.05)</a:t>
            </a:r>
          </a:p>
        </p:txBody>
      </p:sp>
      <p:sp>
        <p:nvSpPr>
          <p:cNvPr id="17" name="Rounded Rectangle 16"/>
          <p:cNvSpPr/>
          <p:nvPr/>
        </p:nvSpPr>
        <p:spPr>
          <a:xfrm>
            <a:off x="8138160" y="3108960"/>
            <a:ext cx="3474720" cy="237744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3400" b="1">
                <a:solidFill>
                  <a:srgbClr val="047857"/>
                </a:solidFill>
                <a:latin typeface="Arial"/>
              </a:defRPr>
            </a:pPr>
            <a:r>
              <a:t>Costo marginal</a:t>
            </a:r>
          </a:p>
          <a:p>
            <a:pPr algn="ctr">
              <a:defRPr sz="1600">
                <a:solidFill>
                  <a:srgbClr val="1F2937"/>
                </a:solidFill>
                <a:latin typeface="Arial"/>
              </a:defRPr>
            </a:pPr>
            <a:br/>
            <a:r>
              <a:t>usa el conteo censal existente</a:t>
            </a:r>
          </a:p>
        </p:txBody>
      </p:sp>
      <p:sp>
        <p:nvSpPr>
          <p:cNvPr id="18" name="TextBox 17"/>
          <p:cNvSpPr txBox="1"/>
          <p:nvPr/>
        </p:nvSpPr>
        <p:spPr>
          <a:xfrm>
            <a:off x="548640" y="5806440"/>
            <a:ext cx="11094415" cy="457200"/>
          </a:xfrm>
          <a:prstGeom prst="rect">
            <a:avLst/>
          </a:prstGeom>
          <a:noFill/>
        </p:spPr>
        <p:txBody>
          <a:bodyPr wrap="none">
            <a:spAutoFit/>
          </a:bodyPr>
          <a:lstStyle/>
          <a:p>
            <a:pPr>
              <a:defRPr sz="1200" i="1">
                <a:solidFill>
                  <a:srgbClr val="6B7280"/>
                </a:solidFill>
                <a:latin typeface="Arial"/>
              </a:defRPr>
            </a:pPr>
            <a:r>
              <a:t>Las campañas masivas se evalúan por distrito. Si se aleatoriza por bloques de secciones, se ajusta por efecto de diseño.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94415" cy="868680"/>
          </a:xfrm>
          <a:prstGeom prst="rect">
            <a:avLst/>
          </a:prstGeom>
          <a:noFill/>
        </p:spPr>
        <p:txBody>
          <a:bodyPr wrap="square" lIns="0" tIns="0" rIns="0" bIns="0">
            <a:spAutoFit/>
          </a:bodyPr>
          <a:lstStyle/>
          <a:p>
            <a:pPr>
              <a:defRPr sz="2800" b="1">
                <a:solidFill>
                  <a:srgbClr val="1E3A8A"/>
                </a:solidFill>
                <a:latin typeface="Arial"/>
              </a:defRPr>
            </a:pPr>
            <a:r>
              <a:t>Tres recomendaciones al INE</a:t>
            </a:r>
          </a:p>
        </p:txBody>
      </p:sp>
      <p:sp>
        <p:nvSpPr>
          <p:cNvPr id="3" name="Rectangle 2"/>
          <p:cNvSpPr/>
          <p:nvPr/>
        </p:nvSpPr>
        <p:spPr>
          <a:xfrm>
            <a:off x="548640" y="1325880"/>
            <a:ext cx="11094415" cy="22860"/>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11094415" cy="320040"/>
          </a:xfrm>
          <a:prstGeom prst="rect">
            <a:avLst/>
          </a:prstGeom>
          <a:noFill/>
        </p:spPr>
        <p:txBody>
          <a:bodyPr wrap="none" lIns="0" tIns="0" rIns="0" bIns="0">
            <a:spAutoFit/>
          </a:bodyPr>
          <a:lstStyle/>
          <a:p>
            <a:pPr>
              <a:defRPr sz="1000">
                <a:solidFill>
                  <a:srgbClr val="6B7280"/>
                </a:solidFill>
                <a:latin typeface="Arial"/>
              </a:defRPr>
            </a:pPr>
            <a:r>
              <a:t>Equipo Byte me · Reto 1 · Concurso «Hackea la participación»</a:t>
            </a:r>
          </a:p>
        </p:txBody>
      </p:sp>
      <p:sp>
        <p:nvSpPr>
          <p:cNvPr id="5" name="TextBox 4"/>
          <p:cNvSpPr txBox="1"/>
          <p:nvPr/>
        </p:nvSpPr>
        <p:spPr>
          <a:xfrm>
            <a:off x="9814255" y="6446520"/>
            <a:ext cx="1828800" cy="320040"/>
          </a:xfrm>
          <a:prstGeom prst="rect">
            <a:avLst/>
          </a:prstGeom>
          <a:noFill/>
        </p:spPr>
        <p:txBody>
          <a:bodyPr wrap="none" lIns="0" tIns="0" rIns="0" bIns="0">
            <a:spAutoFit/>
          </a:bodyPr>
          <a:lstStyle/>
          <a:p>
            <a:pPr algn="r">
              <a:defRPr sz="1000">
                <a:solidFill>
                  <a:srgbClr val="6B7280"/>
                </a:solidFill>
                <a:latin typeface="Arial"/>
              </a:defRPr>
            </a:pPr>
            <a:r>
              <a:t>10</a:t>
            </a:r>
          </a:p>
        </p:txBody>
      </p:sp>
      <p:sp>
        <p:nvSpPr>
          <p:cNvPr id="6" name="Rounded Rectangle 5"/>
          <p:cNvSpPr/>
          <p:nvPr/>
        </p:nvSpPr>
        <p:spPr>
          <a:xfrm>
            <a:off x="548640" y="1554480"/>
            <a:ext cx="11094415"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600">
                <a:solidFill>
                  <a:srgbClr val="1F2937"/>
                </a:solidFill>
                <a:latin typeface="Arial"/>
              </a:defRPr>
            </a:pPr>
            <a:r>
              <a:t>1. Publicar en los CSV abiertos una bandera de estatus de captura por sección, para que los registros NS no se confundan con abstención.</a:t>
            </a:r>
          </a:p>
        </p:txBody>
      </p:sp>
      <p:sp>
        <p:nvSpPr>
          <p:cNvPr id="7" name="Rounded Rectangle 6"/>
          <p:cNvSpPr/>
          <p:nvPr/>
        </p:nvSpPr>
        <p:spPr>
          <a:xfrm>
            <a:off x="548640" y="2606039"/>
            <a:ext cx="11094415"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600">
                <a:solidFill>
                  <a:srgbClr val="1F2937"/>
                </a:solidFill>
                <a:latin typeface="Arial"/>
              </a:defRPr>
            </a:pPr>
            <a:r>
              <a:t>2. Reforzar la captura de cuadernillos: NS pasó de 0.22% en 2012 a 6.83% en 2018 y 6.43% en 2024.</a:t>
            </a:r>
          </a:p>
        </p:txBody>
      </p:sp>
      <p:sp>
        <p:nvSpPr>
          <p:cNvPr id="8" name="Rounded Rectangle 7"/>
          <p:cNvSpPr/>
          <p:nvPr/>
        </p:nvSpPr>
        <p:spPr>
          <a:xfrm>
            <a:off x="548640" y="3657600"/>
            <a:ext cx="11094415" cy="86868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sz="1600">
                <a:solidFill>
                  <a:srgbClr val="1F2937"/>
                </a:solidFill>
                <a:latin typeface="Arial"/>
              </a:defRPr>
            </a:pPr>
            <a:r>
              <a:t>3. Publicar el indicador de población indígena y afromexicana en los CSV abiertos y cruzar la tipología con el Censo 2020.</a:t>
            </a:r>
          </a:p>
        </p:txBody>
      </p:sp>
      <p:sp>
        <p:nvSpPr>
          <p:cNvPr id="9" name="Rounded Rectangle 8"/>
          <p:cNvSpPr/>
          <p:nvPr/>
        </p:nvSpPr>
        <p:spPr>
          <a:xfrm>
            <a:off x="548640" y="4892040"/>
            <a:ext cx="11094415" cy="685800"/>
          </a:xfrm>
          <a:prstGeom prst="roundRect">
            <a:avLst/>
          </a:prstGeom>
          <a:solidFill>
            <a:srgbClr val="EFF6FF"/>
          </a:solidFill>
          <a:ln>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E3A8A"/>
                </a:solidFill>
                <a:latin typeface="Arial"/>
              </a:defRPr>
            </a:pPr>
            <a:r>
              <a:t>Código reproducible: github.com/Johanan1113/Hackaton_INE_byte_me · python run_all.py</a:t>
            </a:r>
          </a:p>
        </p:txBody>
      </p:sp>
      <p:sp>
        <p:nvSpPr>
          <p:cNvPr id="10" name="TextBox 9"/>
          <p:cNvSpPr txBox="1"/>
          <p:nvPr/>
        </p:nvSpPr>
        <p:spPr>
          <a:xfrm>
            <a:off x="548640" y="5715000"/>
            <a:ext cx="11094415" cy="548640"/>
          </a:xfrm>
          <a:prstGeom prst="rect">
            <a:avLst/>
          </a:prstGeom>
          <a:noFill/>
        </p:spPr>
        <p:txBody>
          <a:bodyPr wrap="none">
            <a:spAutoFit/>
          </a:bodyPr>
          <a:lstStyle/>
          <a:p>
            <a:pPr algn="ctr">
              <a:defRPr sz="2400" b="1">
                <a:solidFill>
                  <a:srgbClr val="1E3A8A"/>
                </a:solidFill>
                <a:latin typeface="Arial"/>
              </a:defRPr>
            </a:pPr>
            <a:r>
              <a:t>Gracias · Equipo Byte 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