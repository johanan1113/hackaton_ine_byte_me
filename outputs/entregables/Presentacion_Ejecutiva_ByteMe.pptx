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SV/LN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43.0</c:v>
                </c:pt>
                <c:pt idx="1">
                  <c:v>62.0</c:v>
                </c:pt>
                <c:pt idx="2">
                  <c:v>44.2</c:v>
                </c:pt>
                <c:pt idx="3">
                  <c:v>58.1</c:v>
                </c:pt>
                <c:pt idx="4">
                  <c:v>49.6</c:v>
                </c:pt>
                <c:pt idx="5">
                  <c:v>55.8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SV/(SV+NV)</c:v>
                </c:pt>
              </c:strCache>
            </c:strRef>
          </c:tx>
          <c:spPr>
            <a:solidFill>
              <a:srgbClr val="1E3A8A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44.1</c:v>
                </c:pt>
                <c:pt idx="1">
                  <c:v>62.1</c:v>
                </c:pt>
                <c:pt idx="2">
                  <c:v>47.1</c:v>
                </c:pt>
                <c:pt idx="3">
                  <c:v>62.4</c:v>
                </c:pt>
                <c:pt idx="4">
                  <c:v>51.8</c:v>
                </c:pt>
                <c:pt idx="5">
                  <c:v>59.7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C0</c:v>
                </c:pt>
              </c:strCache>
            </c:strRef>
          </c:tx>
          <c:spPr>
            <a:ln w="28575">
              <a:solidFill>
                <a:srgbClr val="C2410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36.9</c:v>
                </c:pt>
                <c:pt idx="1">
                  <c:v>58.5</c:v>
                </c:pt>
                <c:pt idx="2">
                  <c:v>38.8</c:v>
                </c:pt>
                <c:pt idx="3">
                  <c:v>60.0</c:v>
                </c:pt>
                <c:pt idx="4">
                  <c:v>46.1</c:v>
                </c:pt>
                <c:pt idx="5">
                  <c:v>56.9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</c:v>
                </c:pt>
              </c:strCache>
            </c:strRef>
          </c:tx>
          <c:spPr>
            <a:ln w="28575">
              <a:solidFill>
                <a:srgbClr val="04785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59.2</c:v>
                </c:pt>
                <c:pt idx="1">
                  <c:v>69.2</c:v>
                </c:pt>
                <c:pt idx="2">
                  <c:v>64.2</c:v>
                </c:pt>
                <c:pt idx="3">
                  <c:v>68.2</c:v>
                </c:pt>
                <c:pt idx="4">
                  <c:v>62.5</c:v>
                </c:pt>
                <c:pt idx="5">
                  <c:v>65.7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</c:v>
                </c:pt>
              </c:strCache>
            </c:strRef>
          </c:tx>
          <c:spPr>
            <a:ln w="28575">
              <a:solidFill>
                <a:srgbClr val="1D4ED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41.8</c:v>
                </c:pt>
                <c:pt idx="1">
                  <c:v>65.8</c:v>
                </c:pt>
                <c:pt idx="2">
                  <c:v>48.3</c:v>
                </c:pt>
                <c:pt idx="3">
                  <c:v>69.3</c:v>
                </c:pt>
                <c:pt idx="4">
                  <c:v>60.4</c:v>
                </c:pt>
                <c:pt idx="5">
                  <c:v>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C3</c:v>
                </c:pt>
              </c:strCache>
            </c:strRef>
          </c:tx>
          <c:spPr>
            <a:ln w="28575">
              <a:solidFill>
                <a:srgbClr val="6D28D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49.6</c:v>
                </c:pt>
                <c:pt idx="1">
                  <c:v>61.2</c:v>
                </c:pt>
                <c:pt idx="2">
                  <c:v>50.4</c:v>
                </c:pt>
                <c:pt idx="3">
                  <c:v>59.0</c:v>
                </c:pt>
                <c:pt idx="4">
                  <c:v>49.5</c:v>
                </c:pt>
                <c:pt idx="5">
                  <c:v>55.6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Media del panel</c:v>
                </c:pt>
              </c:strCache>
            </c:strRef>
          </c:tx>
          <c:spPr>
            <a:ln w="28575">
              <a:solidFill>
                <a:srgbClr val="6B72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44.5</c:v>
                </c:pt>
                <c:pt idx="1">
                  <c:v>62.6</c:v>
                </c:pt>
                <c:pt idx="2">
                  <c:v>47.8</c:v>
                </c:pt>
                <c:pt idx="3">
                  <c:v>63.2</c:v>
                </c:pt>
                <c:pt idx="4">
                  <c:v>52.8</c:v>
                </c:pt>
                <c:pt idx="5">
                  <c:v>60.6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ante el Instituto Nacional Electoral nuestra propuesta metodológica y operativa de segmentación ciudadana para el Reto 1. Desarrollamos una tipología seccional rigurosa a partir de los Conteos Censales de Participación Ciudadana de 2009 a 2024, con el objetivo de dotar a las direcciones operativas del instituto de herramientas cuantitativas para focalizar campañas de educación cívica, optimizar la integración de casillas y promover la participación en los comicios federales de 2027 y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Identificamos que calcular la participación dividiendo únicamente votos sobre lista nominal genera un severo sesgo por la presencia de registros no especificados, derivados de cuadernillos con captura incompleta o faltante. En 2018 este sesgo alcanzó 4.27 puntos y en 2024 representó 3.84 puntos porcentuales. Al aplicar estrictamente la formulación técnica de los manuales censales del INE, votos sobre votos más no votos, recuperamos la verdadera tasa de participación y evitamos clasificar erróneamente problemas de captura administrativa como abstencionismo ciudadano.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Validamos nuestra serie nacional contra las publicaciones censales de la DECEyEC y el Manual CCPC: coincide en los seis comicios analizados. Para el modelo principal construimos un panel balanceado de 53,644 secciones continuas y con captura válida en 2,393 municipios, que concentra el 79.5% de la lista nominal nacional sin recurrir a imputaciones sintéticas. Adicionalmente, mediante asignación determinista por cercanía a centroides, extendemos la cobertura operativa de los perfiles al 91.5% de la ciudadanía.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Diseñamos un pipeline totalmente reproducible que sintetiza quince años de historia electoral en siete variables rectoras estandarizadas por sección. Aplicamos el algoritmo K-Means++ seleccionando cuatro perfiles, que domina en coeficiente de Silhouette (0.179) y ofrece una estabilidad bootstrap equivalente y altamente robusta (ARI 0.957). Demostramos la solidez del modelo mediante una validación fuera de tiempo: al calibrar solo con datos de 2009 a 2021, los perfiles agregan casi una décima de R cuadrado sobre el nivel histórico (ΔR² = 0.097).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tipología segmenta el país en cuatro dinámicas nítidas. C0 agrupa un tercio de las secciones en zonas metropolitanas con una profunda caída en elecciones intermedias y desafección juvenil. C1 representa comunidades altamente participativas y estables en todas las edades. C2 tiene una razón de participación juvenil que es la segunda más alta de los cuatro perfiles (0.88, después de C1 con 0.91); su ascenso histórico se concentra en las intermedias (41.8% a 48.3% a 60.4%), mientras que en presidenciales pasó de 69.3% a 68.0% entre 2018 y 2024. Finalmente, C3 presenta una brecha de género favorable a las mujeres explicada por baja participación masculina.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los perfiles ubicados por debajo de la media nacional proponemos intervenciones orientadas a cerrar brechas estructurales. En C0 la prioridad es elevar la participación en elecciones intermedias en entornos urbanos y facilitar la credencialización juvenil en centros laborales y universitarios, fijando como meta alcanzar 49.5% en 2027. En C3, con alta presencia rural y una marcada brecha de género por baja participación masculina, enfocamos los esfuerzos en activar el voto de los hombres en cooperativas y centros de trabajo, junto con casillas extraordinarias y brigadas de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perfiles que superan el promedio del panel requieren estrategias de blindaje y consolidación. En C1 el desafío operativo central es asegurar el relevo generacional en casillas mediante capacitación temprana. En C2, cuya razón de participación juvenil es la segunda más alta de los cuatro perfiles y su ascenso se concentra en las intermedias de 41.8% a 60.4% (con tendencia corregida de +0.88 pts/año), proponemos profundizar el diálogo público mediante Conóceles y debates comunitarios para consolidar su piso de participación.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metas operativas equivalen a sumar aproximadamente 1.21 millones de votos adicionales en las intermedias de 2027 (893 mil en C0 y 316 mil en C3). Por su parte, el escenario de regresión sin probabilidad asociada representa 1.83 millones de votos si C1 y C2 retrocedieran a sus niveles históricos. La priorización territorial demuestra una alta concentración: intervenir en las treinta principales juntas distritales de cada perfil permite cubrir entre el 23.7% y el 49.2% de su lista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Planteamos un diseño experimental riguroso para evaluar las intervenciones en el perfil prioritario C0 durante los comicios de 2027. Seleccionamos mil secciones aleatorizadas en quinientas de tratamiento y quinientas de control, con estratificación por entidad y tercil de participación previa. Con un modelo ANCOVA ajustado por línea base detectamos impactos desde 1.57 puntos porcentuales a nivel seccional con ochenta por ciento de potencia para acciones asignables como brigadas y módulos. Si se aleatorizan bloques de secciones municipales por derrame de campañas masivas, el MDE ajusta por efecto de diseño (ICC = 0.543) a 2.80 puntos con cinco secciones por municipio. La evaluación tiene costo marginal al aprovechar la infraestructura censal ordinaria del instituto.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Concluimos con cuatro recomendaciones prioritarias para el INE: primero, incorporar un indicador explícito de estatus de captura seccional para aislar registros no especificados; segundo, fortalecer los controles operativos para reducir los cuadernillos sin capturar observados desde 2018; tercero, publicar el indicador de población indígena y afromexicana en datos abiertos; y cuarto, utilizar la priorización por junta distrital y el piloto experimental aleatorizado 2027 para evaluar qué funciona. Nuestro código y modelos están plenamente documentados y son reproducibles con un solo comando.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Perfiles ciudadanos de participación electoral en México, 2009–2024</a:t>
            </a:r>
          </a:p>
          <a:p>
            <a:pPr>
              <a:defRPr sz="2200">
                <a:solidFill>
                  <a:srgbClr val="E2E8F0"/>
                </a:solidFill>
                <a:latin typeface="Arial"/>
              </a:defRPr>
            </a:pPr>
            <a:r>
              <a:t>Tipología seccional y estrategias de educación cívica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Arial"/>
              </a:defRPr>
            </a:pPr>
            <a:r>
              <a:t>Equipo Byte me · Reto 1: Perfiles ciudadanos de participación</a:t>
            </a:r>
          </a:p>
          <a:p>
            <a:pPr>
              <a:defRPr sz="1600" i="1">
                <a:solidFill>
                  <a:srgbClr val="1F2937"/>
                </a:solidFill>
                <a:latin typeface="Arial"/>
              </a:defRPr>
            </a:pPr>
            <a:r>
              <a:t>Concurso «Hackea la participación: Datos que construyen democracia»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Johanan Olivares Gutiérrez (representante) · Oscar Ariel Cuevas Martínez · Saúl Alexis Arias González</a:t>
            </a:r>
          </a:p>
        </p:txBody>
      </p:sp>
      <p:pic>
        <p:nvPicPr>
          <p:cNvPr id="5" name="Picture 4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4343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088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410C"/>
                </a:solidFill>
                <a:latin typeface="Arial"/>
              </a:defRPr>
            </a:pPr>
            <a:r>
              <a:t>C0 · Baja Participación Intermitente con Rezago Juvenil</a:t>
            </a:r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782" y="434340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26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C1 · Alta Participación Estable e Intergeneracional</a:t>
            </a:r>
          </a:p>
        </p:txBody>
      </p:sp>
      <p:pic>
        <p:nvPicPr>
          <p:cNvPr id="9" name="Picture 8" descr="icono_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157" y="43434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763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C2 · Participación en Ascenso con Juventud Activa</a:t>
            </a:r>
          </a:p>
        </p:txBody>
      </p:sp>
      <p:pic>
        <p:nvPicPr>
          <p:cNvPr id="11" name="Picture 10" descr="icono_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532" y="4343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101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C3 · Participación a la Baja con Brecha de Género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github.com/Johanan1113/Hackaton_INE_byte_me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Medir bien cambia el diagnóstico: la fórmula correcta recupera hasta 4.27 puntos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834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400" b="1">
                <a:solidFill>
                  <a:srgbClr val="1E3A8A"/>
                </a:solidFill>
                <a:latin typeface="Arial"/>
              </a:defRPr>
            </a:pPr>
            <a:r>
              <a:t>−4.27 pts</a:t>
            </a:r>
          </a:p>
          <a:p>
            <a:br/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subestimación de la participación nacional en 2018 al dividir entre la lista nominal (−3.84 pts en 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3200400" cy="7772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B7280"/>
                </a:solidFill>
                <a:latin typeface="Arial"/>
              </a:defRPr>
            </a:pPr>
            <a:r>
              <a:t>Incorrecta: SV / 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320040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Correcta (Manual CCPC):</a:t>
            </a:r>
          </a:p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SV / (SV + NV)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320040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1F2937"/>
                </a:solidFill>
                <a:latin typeface="Arial"/>
              </a:defRPr>
            </a:pPr>
            <a:r>
              <a:t>En 2018 y 2024, el 6.8% y el 6.4% de la lista nominal son registros no especificados (NS): cuadernillos sin marcas, no disponibles, con páginas faltantes o requeridos por autoridad jurisdiccional. Contarlos como abstención crea grupos artificiales de baja participación.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0" y="1554480"/>
          <a:ext cx="475488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Nuestra serie reproduce las cifras censales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943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2860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Año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Cálculo CCPC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Dato censal INE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59.67%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1554480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53,644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secciones con serie completa 2009–2024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907792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79.5%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2024 en el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261104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047857"/>
                </a:solidFill>
                <a:latin typeface="Arial"/>
              </a:defRPr>
            </a:pPr>
            <a:r>
              <a:t>91.5%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con perfil asignado para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Fuentes: DECEyEC, estudio comparativo 2009–2015; Manual de Conteos Censales 2009–2024 (p. 21).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 con un método reproducible y validado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Datos CCPC 2009–2024</a:t>
            </a:r>
            <a:br/>
            <a:r>
              <a:t>6 elecciones federales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Corrección SV/(SV+NV)</a:t>
            </a:r>
            <a:br/>
            <a:r>
              <a:t>y depuración sin imputar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7 indicadores</a:t>
            </a:r>
            <a:br/>
            <a:r>
              <a:t>por sección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K-Means++</a:t>
            </a:r>
            <a:br/>
            <a:r>
              <a:t>con k = 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  <a:br/>
            <a:r>
              <a:t>y solidez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530352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Indicadores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Participación media histórica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presidencial–intermedia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Tendencia anual de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en la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generacional (jóvenes vs. mayores)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de género (mujeres vs. hombres)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Razón de participación juvenil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539496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Silhouette 0.179: el mejor en el rango 4–6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bootstrap: ARI 0.957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83.7% de las secciones conserva su perfil sin datos de 2024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Aporta ΔR² = 0.097 sobre el nivel histórico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secciones forman un continuo: los perfiles son una segmentación operativa, no grupos naturales.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perfiles, cuatro dinámicas de participación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59436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6002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C0: Baja Participación Intermitente con Rezago Juvenil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32.9% de las secciones · participación media 50.4%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Cae en elecciones intermedias y rezago juvenil</a:t>
            </a:r>
          </a:p>
        </p:txBody>
      </p:sp>
      <p:pic>
        <p:nvPicPr>
          <p:cNvPr id="9" name="Picture 8" descr="icono_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7432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2697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Arial"/>
              </a:defRPr>
            </a:pPr>
            <a:r>
              <a:t>C1: Alta Participación Estable e Intergeneracional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16.5% de las secciones · participación media 65.1%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Alta y estable; integra a todas las edades</a:t>
            </a:r>
          </a:p>
        </p:txBody>
      </p:sp>
      <p:pic>
        <p:nvPicPr>
          <p:cNvPr id="11" name="Picture 10" descr="icono_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8862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3840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C2: Participación en Ascenso con Juventud Activa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27.3% de las secciones · participación media 58.9%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Crece +0.88 pts/año (corregida) con juventud activa</a:t>
            </a:r>
          </a:p>
        </p:txBody>
      </p:sp>
      <p:pic>
        <p:nvPicPr>
          <p:cNvPr id="13" name="Picture 12" descr="icono_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50292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4983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C3: Participación a la Baja con Brecha de Género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23.4% de las secciones · participación media 55.4%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Las mujeres votan 11.2 pts más; cae en presidenciales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concentran el margen de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C0: Baja Participación Intermitente con Rezago Juvenil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50.4%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46.1%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+17.3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pres.–inter.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Pedagogía sobre elecciones intermedias en transporte masivo; atención prioritaria a hombres jóvenes y adultos en centros laborales; y módulos itinerantes de credencialización en universidades (DERFE).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C2410C"/>
                </a:solidFill>
                <a:latin typeface="Arial"/>
              </a:defRPr>
            </a:pPr>
            <a:r>
              <a:t>49.5% en la intermedia 2027 (+3.3 pts) · voto juvenil 39.1%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Chihuahua 03 · Estado de México 31 · Puebla 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C3: Participación a la Baja con Brecha de Género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55.4%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49.5%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+11.2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de género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Promoción del voto masculino en centros laborales agropecuarios y de transporte; brigadas de accesibilidad y propuesta de casillas extraordinarias a los Consejos Distritales (LGIPE); y promotoras comunitarias.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51.1% en 2027 · 58.1% en 2030 · voto masculino 46.3%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Guanajuato 02 · Estado de México 32 · Sonora 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que hay que sostener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C1: Alta Participación Estable e Intergeneracional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65.1%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62.5%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246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59.1%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voto juvenil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Reconocimiento a la constancia cívica, talleres juveniles y sensibilización de la ciudadanía insaculada para integrar casillas con funcionariado propietario.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≥ 62.5% en 2027 · ≥ 65.7% en 2030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Jalisco 18 · Campeche 01 · Nuevo León 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C2: Participación en Ascenso con Juventud Activa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58.9%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60.4%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174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2600" b="1">
                <a:solidFill>
                  <a:srgbClr val="1D4ED8"/>
                </a:solidFill>
                <a:latin typeface="Arial"/>
              </a:defRPr>
            </a:pPr>
            <a:r>
              <a:t>+0.88 pts/año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tendencia corregida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Foros «Diálogos por la Democracia», alianzas con colectivos juveniles y difusión de «Conóceles» para consultar información de todas las candidaturas.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1D4ED8"/>
                </a:solidFill>
                <a:latin typeface="Arial"/>
              </a:defRPr>
            </a:pPr>
            <a:r>
              <a:t>≥ 60.4% en 2027 · razón juvenil ≥ 0.88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Ciudad de México 15 · Tlaxcala 03 · Ciudad de México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Las metas equivalen a ≈ 1.21 millones de votantes más en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047857"/>
                </a:solidFill>
                <a:latin typeface="Arial"/>
              </a:defRPr>
            </a:pPr>
            <a:r>
              <a:t>≈ 1.21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adicionales en 2027 si se cumplen las metas (≈ 893 mil en C0 y ≈ 316 mil en C3)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C2410C"/>
                </a:solidFill>
                <a:latin typeface="Arial"/>
              </a:defRPr>
            </a:pPr>
            <a:r>
              <a:t>≈ 1.83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en escenario de regresión en C1 (≈ 52 mil) y C2 (≈ 1.78 millones) (sin probabilidad asociada)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10896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011680"/>
                <a:gridCol w="4114800"/>
                <a:gridCol w="1493215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Perfil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Impacto 2027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3 juntas distritales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% de su LN en 30 juntas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C0: Baja Participación Intermitente con Rezago Juvenil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≈ 893 mil adicionales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Chihuahua – Distrito 03, Estado de México – Distrito 31, Puebla – Distrito 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C1: Alta Participación Estable e Intergeneracional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≈ 52 mil en regresión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Jalisco – Distrito 18, Campeche – Distrito 01, Nuevo León – Distrito 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49.2%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C2: Participación en Ascenso con Juventud Activa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≈ 1.78 millones en regresión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Ciudad de México – Distrito 15, Tlaxcala – Distrito 03, Ciudad de México – Distrito 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31.2%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C3: Participación a la Baja con Brecha de Género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≈ 316 mil adicionales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Guanajuato – Distrito 02, Estado de México – Distrito 32, Sonora – Distrito 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28.5%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Estimación sobre la base de sufragios (SV + NV) 2024. El escenario de regresión no tiene probabilidad asociada.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Un piloto que se evalúa con los propios datos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1,000 secciones</a:t>
            </a:r>
            <a:br/>
            <a:r>
              <a:t>del perfil C0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Arial"/>
              </a:defRPr>
            </a:pPr>
            <a:r>
              <a:t>Aleatorización estratificada</a:t>
            </a:r>
            <a:br/>
            <a:r>
              <a:t>(entidad × tercil 2021)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500 tratamiento</a:t>
            </a:r>
            <a:br/>
            <a:r>
              <a:t>500 de control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Medición con el</a:t>
            </a:r>
            <a:br/>
            <a:r>
              <a:t>CCPC 2027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Análisis</a:t>
            </a:r>
            <a:br/>
            <a:r>
              <a:t>ANCOVA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1.57 pts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efecto mínimo detectable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80%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potencia (α = 0.05)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3400" b="1">
                <a:solidFill>
                  <a:srgbClr val="047857"/>
                </a:solidFill>
                <a:latin typeface="Arial"/>
              </a:defRPr>
            </a:pPr>
            <a:r>
              <a:t>Costo marginal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usa el conteo censal existente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Solo acciones asignables por sección (brigadas casa por casa y «Ubica tu casilla»); las campañas masivas se evalúan por distrito o municipio. Si se aleatoriza por bloques municipales (ICC = 0.543), el MDE sube a 2.80 pts con 5 secciones por municipio y a 3.81 pts con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recomendaciones al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1. Publicar en los CSV abiertos una bandera de estatus de captura por sección, para que los registros NS no se confundan con abstención.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2. Reforzar la captura de cuadernillos: NS pasó de 0.22% en 2012 a 6.83% en 2018 y 6.43% en 2024.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3. Publicar el indicador de población indígena y afromexicana en los CSV abiertos y cruzar la tipología con el Censo 2020.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4. Usar la priorización por junta distrital y el piloto aleatorizado 2027 para evaluar qué funciona.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11094415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Código reproducible: github.com/Johanan1113/Hackaton_INE_byte_me · python run_all.py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Arial"/>
              </a:defRPr>
            </a:pPr>
            <a:r>
              <a:t>Gracias · Equipo Byte 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